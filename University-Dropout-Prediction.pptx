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Playfair Display Semi Bold" panose="020B0604020202020204" charset="0"/>
      <p:regular r:id="rId13"/>
    </p:embeddedFont>
    <p:embeddedFont>
      <p:font typeface="Public Sans"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44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45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FFBE1-6BDC-B2A4-DB39-3BB9C9551426}"/>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IN"/>
          </a:p>
        </p:txBody>
      </p:sp>
      <p:sp>
        <p:nvSpPr>
          <p:cNvPr id="3" name="Subtitle 2">
            <a:extLst>
              <a:ext uri="{FF2B5EF4-FFF2-40B4-BE49-F238E27FC236}">
                <a16:creationId xmlns:a16="http://schemas.microsoft.com/office/drawing/2014/main" id="{5860EB6A-715B-C9D7-9A35-64D8F3504099}"/>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9CEF765-F96B-0F32-1072-FCE54EB5C460}"/>
              </a:ext>
            </a:extLst>
          </p:cNvPr>
          <p:cNvSpPr>
            <a:spLocks noGrp="1"/>
          </p:cNvSpPr>
          <p:nvPr>
            <p:ph type="dt" sz="half" idx="10"/>
          </p:nvPr>
        </p:nvSpPr>
        <p:spPr/>
        <p:txBody>
          <a:bodyPr/>
          <a:lstStyle/>
          <a:p>
            <a:fld id="{F10ACDC3-D686-40CB-A19A-8A8EECB12D26}" type="datetimeFigureOut">
              <a:rPr lang="en-IN" smtClean="0"/>
              <a:t>10-04-2026</a:t>
            </a:fld>
            <a:endParaRPr lang="en-IN"/>
          </a:p>
        </p:txBody>
      </p:sp>
      <p:sp>
        <p:nvSpPr>
          <p:cNvPr id="5" name="Footer Placeholder 4">
            <a:extLst>
              <a:ext uri="{FF2B5EF4-FFF2-40B4-BE49-F238E27FC236}">
                <a16:creationId xmlns:a16="http://schemas.microsoft.com/office/drawing/2014/main" id="{F030D48C-5E96-7F34-6CC2-BC2ED39074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5EB85C-B3CC-41BF-A7F8-CF3C1AC6C076}"/>
              </a:ext>
            </a:extLst>
          </p:cNvPr>
          <p:cNvSpPr>
            <a:spLocks noGrp="1"/>
          </p:cNvSpPr>
          <p:nvPr>
            <p:ph type="sldNum" sz="quarter" idx="12"/>
          </p:nvPr>
        </p:nvSpPr>
        <p:spPr/>
        <p:txBody>
          <a:bodyPr/>
          <a:lstStyle/>
          <a:p>
            <a:fld id="{CEF328CE-F7F5-467A-8514-431F2FF17CEF}" type="slidenum">
              <a:rPr lang="en-IN" smtClean="0"/>
              <a:t>‹#›</a:t>
            </a:fld>
            <a:endParaRPr lang="en-IN"/>
          </a:p>
        </p:txBody>
      </p:sp>
    </p:spTree>
    <p:extLst>
      <p:ext uri="{BB962C8B-B14F-4D97-AF65-F5344CB8AC3E}">
        <p14:creationId xmlns:p14="http://schemas.microsoft.com/office/powerpoint/2010/main" val="332286929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614A3-FBB9-FD7E-1EE6-6F4060E531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CD859F-6051-7231-0313-1089C9E949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88EC2F-CDA7-A529-C254-EAF70AD3F1A8}"/>
              </a:ext>
            </a:extLst>
          </p:cNvPr>
          <p:cNvSpPr>
            <a:spLocks noGrp="1"/>
          </p:cNvSpPr>
          <p:nvPr>
            <p:ph type="dt" sz="half" idx="10"/>
          </p:nvPr>
        </p:nvSpPr>
        <p:spPr/>
        <p:txBody>
          <a:bodyPr/>
          <a:lstStyle/>
          <a:p>
            <a:fld id="{F10ACDC3-D686-40CB-A19A-8A8EECB12D26}" type="datetimeFigureOut">
              <a:rPr lang="en-IN" smtClean="0"/>
              <a:t>10-04-2026</a:t>
            </a:fld>
            <a:endParaRPr lang="en-IN"/>
          </a:p>
        </p:txBody>
      </p:sp>
      <p:sp>
        <p:nvSpPr>
          <p:cNvPr id="5" name="Footer Placeholder 4">
            <a:extLst>
              <a:ext uri="{FF2B5EF4-FFF2-40B4-BE49-F238E27FC236}">
                <a16:creationId xmlns:a16="http://schemas.microsoft.com/office/drawing/2014/main" id="{B89F1A62-5669-D29F-3C4E-0F0FED4168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99E2CE-C4D3-245D-6342-2D9C52B562C1}"/>
              </a:ext>
            </a:extLst>
          </p:cNvPr>
          <p:cNvSpPr>
            <a:spLocks noGrp="1"/>
          </p:cNvSpPr>
          <p:nvPr>
            <p:ph type="sldNum" sz="quarter" idx="12"/>
          </p:nvPr>
        </p:nvSpPr>
        <p:spPr/>
        <p:txBody>
          <a:bodyPr/>
          <a:lstStyle/>
          <a:p>
            <a:fld id="{CEF328CE-F7F5-467A-8514-431F2FF17CEF}" type="slidenum">
              <a:rPr lang="en-IN" smtClean="0"/>
              <a:t>‹#›</a:t>
            </a:fld>
            <a:endParaRPr lang="en-IN"/>
          </a:p>
        </p:txBody>
      </p:sp>
    </p:spTree>
    <p:extLst>
      <p:ext uri="{BB962C8B-B14F-4D97-AF65-F5344CB8AC3E}">
        <p14:creationId xmlns:p14="http://schemas.microsoft.com/office/powerpoint/2010/main" val="126736091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B1D3B-5F75-399D-7BEA-0AE5F1E5F062}"/>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75892BC-69A5-C895-83EB-02A96E283BDC}"/>
              </a:ext>
            </a:extLst>
          </p:cNvPr>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7A4EF9-88F2-F43B-1B9B-AE1428CC3DC2}"/>
              </a:ext>
            </a:extLst>
          </p:cNvPr>
          <p:cNvSpPr>
            <a:spLocks noGrp="1"/>
          </p:cNvSpPr>
          <p:nvPr>
            <p:ph type="dt" sz="half" idx="10"/>
          </p:nvPr>
        </p:nvSpPr>
        <p:spPr/>
        <p:txBody>
          <a:bodyPr/>
          <a:lstStyle/>
          <a:p>
            <a:fld id="{F10ACDC3-D686-40CB-A19A-8A8EECB12D26}" type="datetimeFigureOut">
              <a:rPr lang="en-IN" smtClean="0"/>
              <a:t>10-04-2026</a:t>
            </a:fld>
            <a:endParaRPr lang="en-IN"/>
          </a:p>
        </p:txBody>
      </p:sp>
      <p:sp>
        <p:nvSpPr>
          <p:cNvPr id="5" name="Footer Placeholder 4">
            <a:extLst>
              <a:ext uri="{FF2B5EF4-FFF2-40B4-BE49-F238E27FC236}">
                <a16:creationId xmlns:a16="http://schemas.microsoft.com/office/drawing/2014/main" id="{F46D6858-25F1-CF89-9FD5-4EA3DEC237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349528-B347-DDC0-EF30-C6D6DD78432D}"/>
              </a:ext>
            </a:extLst>
          </p:cNvPr>
          <p:cNvSpPr>
            <a:spLocks noGrp="1"/>
          </p:cNvSpPr>
          <p:nvPr>
            <p:ph type="sldNum" sz="quarter" idx="12"/>
          </p:nvPr>
        </p:nvSpPr>
        <p:spPr/>
        <p:txBody>
          <a:bodyPr/>
          <a:lstStyle/>
          <a:p>
            <a:fld id="{CEF328CE-F7F5-467A-8514-431F2FF17CEF}" type="slidenum">
              <a:rPr lang="en-IN" smtClean="0"/>
              <a:t>‹#›</a:t>
            </a:fld>
            <a:endParaRPr lang="en-IN"/>
          </a:p>
        </p:txBody>
      </p:sp>
    </p:spTree>
    <p:extLst>
      <p:ext uri="{BB962C8B-B14F-4D97-AF65-F5344CB8AC3E}">
        <p14:creationId xmlns:p14="http://schemas.microsoft.com/office/powerpoint/2010/main" val="177118788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A1CC8-FDCE-4C13-F6D7-E658DF6985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5B575C-D2ED-131B-CA27-4E41918A1A11}"/>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04FAAEC-221B-0B1D-BBC9-55B371B04667}"/>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6E895CE-0AFF-44C7-5367-3086ECB904A3}"/>
              </a:ext>
            </a:extLst>
          </p:cNvPr>
          <p:cNvSpPr>
            <a:spLocks noGrp="1"/>
          </p:cNvSpPr>
          <p:nvPr>
            <p:ph type="dt" sz="half" idx="10"/>
          </p:nvPr>
        </p:nvSpPr>
        <p:spPr/>
        <p:txBody>
          <a:bodyPr/>
          <a:lstStyle/>
          <a:p>
            <a:fld id="{F10ACDC3-D686-40CB-A19A-8A8EECB12D26}" type="datetimeFigureOut">
              <a:rPr lang="en-IN" smtClean="0"/>
              <a:t>10-04-2026</a:t>
            </a:fld>
            <a:endParaRPr lang="en-IN"/>
          </a:p>
        </p:txBody>
      </p:sp>
      <p:sp>
        <p:nvSpPr>
          <p:cNvPr id="6" name="Footer Placeholder 5">
            <a:extLst>
              <a:ext uri="{FF2B5EF4-FFF2-40B4-BE49-F238E27FC236}">
                <a16:creationId xmlns:a16="http://schemas.microsoft.com/office/drawing/2014/main" id="{63A2E9B4-7D52-D586-7B6A-06203C1BF8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48ADC9-F443-88D7-F337-E26B2D423A00}"/>
              </a:ext>
            </a:extLst>
          </p:cNvPr>
          <p:cNvSpPr>
            <a:spLocks noGrp="1"/>
          </p:cNvSpPr>
          <p:nvPr>
            <p:ph type="sldNum" sz="quarter" idx="12"/>
          </p:nvPr>
        </p:nvSpPr>
        <p:spPr/>
        <p:txBody>
          <a:bodyPr/>
          <a:lstStyle/>
          <a:p>
            <a:fld id="{CEF328CE-F7F5-467A-8514-431F2FF17CEF}" type="slidenum">
              <a:rPr lang="en-IN" smtClean="0"/>
              <a:t>‹#›</a:t>
            </a:fld>
            <a:endParaRPr lang="en-IN"/>
          </a:p>
        </p:txBody>
      </p:sp>
    </p:spTree>
    <p:extLst>
      <p:ext uri="{BB962C8B-B14F-4D97-AF65-F5344CB8AC3E}">
        <p14:creationId xmlns:p14="http://schemas.microsoft.com/office/powerpoint/2010/main" val="39809625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83CBE-6D89-022F-6FD0-4ABF2E177851}"/>
              </a:ext>
            </a:extLst>
          </p:cNvPr>
          <p:cNvSpPr>
            <a:spLocks noGrp="1"/>
          </p:cNvSpPr>
          <p:nvPr>
            <p:ph type="title"/>
          </p:nvPr>
        </p:nvSpPr>
        <p:spPr>
          <a:xfrm>
            <a:off x="1007746" y="438150"/>
            <a:ext cx="12618720" cy="1590676"/>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3E2BE5-439E-24C4-5D3B-A42592D2BE84}"/>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FA1FAB55-EC76-1CBC-3701-5AEFABF4E7FC}"/>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34B48E-94D9-B33A-1062-8F29ACC47637}"/>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AAA70395-634B-0FFC-2800-9B8975AD13D1}"/>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323AD2A-37F7-4727-074D-23C327145EBD}"/>
              </a:ext>
            </a:extLst>
          </p:cNvPr>
          <p:cNvSpPr>
            <a:spLocks noGrp="1"/>
          </p:cNvSpPr>
          <p:nvPr>
            <p:ph type="dt" sz="half" idx="10"/>
          </p:nvPr>
        </p:nvSpPr>
        <p:spPr/>
        <p:txBody>
          <a:bodyPr/>
          <a:lstStyle/>
          <a:p>
            <a:fld id="{F10ACDC3-D686-40CB-A19A-8A8EECB12D26}" type="datetimeFigureOut">
              <a:rPr lang="en-IN" smtClean="0"/>
              <a:t>10-04-2026</a:t>
            </a:fld>
            <a:endParaRPr lang="en-IN"/>
          </a:p>
        </p:txBody>
      </p:sp>
      <p:sp>
        <p:nvSpPr>
          <p:cNvPr id="8" name="Footer Placeholder 7">
            <a:extLst>
              <a:ext uri="{FF2B5EF4-FFF2-40B4-BE49-F238E27FC236}">
                <a16:creationId xmlns:a16="http://schemas.microsoft.com/office/drawing/2014/main" id="{54F7A68F-0E25-25C7-BD79-BF1E8B44EF6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8823540-018E-18E4-E514-EBF5B637511E}"/>
              </a:ext>
            </a:extLst>
          </p:cNvPr>
          <p:cNvSpPr>
            <a:spLocks noGrp="1"/>
          </p:cNvSpPr>
          <p:nvPr>
            <p:ph type="sldNum" sz="quarter" idx="12"/>
          </p:nvPr>
        </p:nvSpPr>
        <p:spPr/>
        <p:txBody>
          <a:bodyPr/>
          <a:lstStyle/>
          <a:p>
            <a:fld id="{CEF328CE-F7F5-467A-8514-431F2FF17CEF}" type="slidenum">
              <a:rPr lang="en-IN" smtClean="0"/>
              <a:t>‹#›</a:t>
            </a:fld>
            <a:endParaRPr lang="en-IN"/>
          </a:p>
        </p:txBody>
      </p:sp>
    </p:spTree>
    <p:extLst>
      <p:ext uri="{BB962C8B-B14F-4D97-AF65-F5344CB8AC3E}">
        <p14:creationId xmlns:p14="http://schemas.microsoft.com/office/powerpoint/2010/main" val="311531922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ECA04-7D26-766E-E7A2-3BAAE17C997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626D1D4-C266-4C09-2F09-305C3DCFFBC7}"/>
              </a:ext>
            </a:extLst>
          </p:cNvPr>
          <p:cNvSpPr>
            <a:spLocks noGrp="1"/>
          </p:cNvSpPr>
          <p:nvPr>
            <p:ph type="dt" sz="half" idx="10"/>
          </p:nvPr>
        </p:nvSpPr>
        <p:spPr/>
        <p:txBody>
          <a:bodyPr/>
          <a:lstStyle/>
          <a:p>
            <a:fld id="{F10ACDC3-D686-40CB-A19A-8A8EECB12D26}" type="datetimeFigureOut">
              <a:rPr lang="en-IN" smtClean="0"/>
              <a:t>10-04-2026</a:t>
            </a:fld>
            <a:endParaRPr lang="en-IN"/>
          </a:p>
        </p:txBody>
      </p:sp>
      <p:sp>
        <p:nvSpPr>
          <p:cNvPr id="4" name="Footer Placeholder 3">
            <a:extLst>
              <a:ext uri="{FF2B5EF4-FFF2-40B4-BE49-F238E27FC236}">
                <a16:creationId xmlns:a16="http://schemas.microsoft.com/office/drawing/2014/main" id="{906BCEB6-5A8F-3CEA-912F-571BFC28A98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EE9EE99-E953-4DAA-2C44-F368E96EDDA3}"/>
              </a:ext>
            </a:extLst>
          </p:cNvPr>
          <p:cNvSpPr>
            <a:spLocks noGrp="1"/>
          </p:cNvSpPr>
          <p:nvPr>
            <p:ph type="sldNum" sz="quarter" idx="12"/>
          </p:nvPr>
        </p:nvSpPr>
        <p:spPr/>
        <p:txBody>
          <a:bodyPr/>
          <a:lstStyle/>
          <a:p>
            <a:fld id="{CEF328CE-F7F5-467A-8514-431F2FF17CEF}" type="slidenum">
              <a:rPr lang="en-IN" smtClean="0"/>
              <a:t>‹#›</a:t>
            </a:fld>
            <a:endParaRPr lang="en-IN"/>
          </a:p>
        </p:txBody>
      </p:sp>
    </p:spTree>
    <p:extLst>
      <p:ext uri="{BB962C8B-B14F-4D97-AF65-F5344CB8AC3E}">
        <p14:creationId xmlns:p14="http://schemas.microsoft.com/office/powerpoint/2010/main" val="13650374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E3D6DD-DE2B-16F3-98D3-670D39DA3F2F}"/>
              </a:ext>
            </a:extLst>
          </p:cNvPr>
          <p:cNvSpPr>
            <a:spLocks noGrp="1"/>
          </p:cNvSpPr>
          <p:nvPr>
            <p:ph type="dt" sz="half" idx="10"/>
          </p:nvPr>
        </p:nvSpPr>
        <p:spPr/>
        <p:txBody>
          <a:bodyPr/>
          <a:lstStyle/>
          <a:p>
            <a:fld id="{F10ACDC3-D686-40CB-A19A-8A8EECB12D26}" type="datetimeFigureOut">
              <a:rPr lang="en-IN" smtClean="0"/>
              <a:t>10-04-2026</a:t>
            </a:fld>
            <a:endParaRPr lang="en-IN"/>
          </a:p>
        </p:txBody>
      </p:sp>
      <p:sp>
        <p:nvSpPr>
          <p:cNvPr id="3" name="Footer Placeholder 2">
            <a:extLst>
              <a:ext uri="{FF2B5EF4-FFF2-40B4-BE49-F238E27FC236}">
                <a16:creationId xmlns:a16="http://schemas.microsoft.com/office/drawing/2014/main" id="{2DC1060E-3C48-0C03-CBF8-738D5C7B4F8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D871F8D-BD61-B631-0220-A540F98456B6}"/>
              </a:ext>
            </a:extLst>
          </p:cNvPr>
          <p:cNvSpPr>
            <a:spLocks noGrp="1"/>
          </p:cNvSpPr>
          <p:nvPr>
            <p:ph type="sldNum" sz="quarter" idx="12"/>
          </p:nvPr>
        </p:nvSpPr>
        <p:spPr/>
        <p:txBody>
          <a:bodyPr/>
          <a:lstStyle/>
          <a:p>
            <a:fld id="{CEF328CE-F7F5-467A-8514-431F2FF17CEF}" type="slidenum">
              <a:rPr lang="en-IN" smtClean="0"/>
              <a:t>‹#›</a:t>
            </a:fld>
            <a:endParaRPr lang="en-IN"/>
          </a:p>
        </p:txBody>
      </p:sp>
    </p:spTree>
    <p:extLst>
      <p:ext uri="{BB962C8B-B14F-4D97-AF65-F5344CB8AC3E}">
        <p14:creationId xmlns:p14="http://schemas.microsoft.com/office/powerpoint/2010/main" val="198381543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8BA4D-803B-22C6-C5BE-580684FF84E2}"/>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38E8F92-76D8-4C97-1F31-4531BF20D4C7}"/>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9F6B261-FDD0-97D6-BD9B-63918B86A45D}"/>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5F922084-6AE3-92F3-FEA8-D733018A3B40}"/>
              </a:ext>
            </a:extLst>
          </p:cNvPr>
          <p:cNvSpPr>
            <a:spLocks noGrp="1"/>
          </p:cNvSpPr>
          <p:nvPr>
            <p:ph type="dt" sz="half" idx="10"/>
          </p:nvPr>
        </p:nvSpPr>
        <p:spPr/>
        <p:txBody>
          <a:bodyPr/>
          <a:lstStyle/>
          <a:p>
            <a:fld id="{F10ACDC3-D686-40CB-A19A-8A8EECB12D26}" type="datetimeFigureOut">
              <a:rPr lang="en-IN" smtClean="0"/>
              <a:t>10-04-2026</a:t>
            </a:fld>
            <a:endParaRPr lang="en-IN"/>
          </a:p>
        </p:txBody>
      </p:sp>
      <p:sp>
        <p:nvSpPr>
          <p:cNvPr id="6" name="Footer Placeholder 5">
            <a:extLst>
              <a:ext uri="{FF2B5EF4-FFF2-40B4-BE49-F238E27FC236}">
                <a16:creationId xmlns:a16="http://schemas.microsoft.com/office/drawing/2014/main" id="{ABE1ABFB-E26A-B134-F3AE-B3CA745A83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F12BC9-DEA8-FC4A-B839-0686D91DB588}"/>
              </a:ext>
            </a:extLst>
          </p:cNvPr>
          <p:cNvSpPr>
            <a:spLocks noGrp="1"/>
          </p:cNvSpPr>
          <p:nvPr>
            <p:ph type="sldNum" sz="quarter" idx="12"/>
          </p:nvPr>
        </p:nvSpPr>
        <p:spPr/>
        <p:txBody>
          <a:bodyPr/>
          <a:lstStyle/>
          <a:p>
            <a:fld id="{CEF328CE-F7F5-467A-8514-431F2FF17CEF}" type="slidenum">
              <a:rPr lang="en-IN" smtClean="0"/>
              <a:t>‹#›</a:t>
            </a:fld>
            <a:endParaRPr lang="en-IN"/>
          </a:p>
        </p:txBody>
      </p:sp>
    </p:spTree>
    <p:extLst>
      <p:ext uri="{BB962C8B-B14F-4D97-AF65-F5344CB8AC3E}">
        <p14:creationId xmlns:p14="http://schemas.microsoft.com/office/powerpoint/2010/main" val="427367775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F5CB4-93FE-8B46-0F4F-609B4EF3D902}"/>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1512399-71C3-13F6-D49E-C16BC25C6265}"/>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IN"/>
          </a:p>
        </p:txBody>
      </p:sp>
      <p:sp>
        <p:nvSpPr>
          <p:cNvPr id="4" name="Text Placeholder 3">
            <a:extLst>
              <a:ext uri="{FF2B5EF4-FFF2-40B4-BE49-F238E27FC236}">
                <a16:creationId xmlns:a16="http://schemas.microsoft.com/office/drawing/2014/main" id="{9F948018-1A9A-1F03-466C-2B3AD26CAFE7}"/>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F36CBEB5-16BA-60D4-7775-28C31ED77595}"/>
              </a:ext>
            </a:extLst>
          </p:cNvPr>
          <p:cNvSpPr>
            <a:spLocks noGrp="1"/>
          </p:cNvSpPr>
          <p:nvPr>
            <p:ph type="dt" sz="half" idx="10"/>
          </p:nvPr>
        </p:nvSpPr>
        <p:spPr/>
        <p:txBody>
          <a:bodyPr/>
          <a:lstStyle/>
          <a:p>
            <a:fld id="{F10ACDC3-D686-40CB-A19A-8A8EECB12D26}" type="datetimeFigureOut">
              <a:rPr lang="en-IN" smtClean="0"/>
              <a:t>10-04-2026</a:t>
            </a:fld>
            <a:endParaRPr lang="en-IN"/>
          </a:p>
        </p:txBody>
      </p:sp>
      <p:sp>
        <p:nvSpPr>
          <p:cNvPr id="6" name="Footer Placeholder 5">
            <a:extLst>
              <a:ext uri="{FF2B5EF4-FFF2-40B4-BE49-F238E27FC236}">
                <a16:creationId xmlns:a16="http://schemas.microsoft.com/office/drawing/2014/main" id="{BBD7AD7F-0AFC-7979-A13F-10FB505477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875961-BB4A-3878-0683-CDADD7D261CD}"/>
              </a:ext>
            </a:extLst>
          </p:cNvPr>
          <p:cNvSpPr>
            <a:spLocks noGrp="1"/>
          </p:cNvSpPr>
          <p:nvPr>
            <p:ph type="sldNum" sz="quarter" idx="12"/>
          </p:nvPr>
        </p:nvSpPr>
        <p:spPr/>
        <p:txBody>
          <a:bodyPr/>
          <a:lstStyle/>
          <a:p>
            <a:fld id="{CEF328CE-F7F5-467A-8514-431F2FF17CEF}" type="slidenum">
              <a:rPr lang="en-IN" smtClean="0"/>
              <a:t>‹#›</a:t>
            </a:fld>
            <a:endParaRPr lang="en-IN"/>
          </a:p>
        </p:txBody>
      </p:sp>
    </p:spTree>
    <p:extLst>
      <p:ext uri="{BB962C8B-B14F-4D97-AF65-F5344CB8AC3E}">
        <p14:creationId xmlns:p14="http://schemas.microsoft.com/office/powerpoint/2010/main" val="246979329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FFBED-6A8D-AAD4-9632-99BE2AAEB42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9EC8FE2-29E5-CA72-3D80-ED0772B211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E880D-259F-7CF9-5861-0E52B6E20B0E}"/>
              </a:ext>
            </a:extLst>
          </p:cNvPr>
          <p:cNvSpPr>
            <a:spLocks noGrp="1"/>
          </p:cNvSpPr>
          <p:nvPr>
            <p:ph type="dt" sz="half" idx="10"/>
          </p:nvPr>
        </p:nvSpPr>
        <p:spPr/>
        <p:txBody>
          <a:bodyPr/>
          <a:lstStyle/>
          <a:p>
            <a:fld id="{F10ACDC3-D686-40CB-A19A-8A8EECB12D26}" type="datetimeFigureOut">
              <a:rPr lang="en-IN" smtClean="0"/>
              <a:t>10-04-2026</a:t>
            </a:fld>
            <a:endParaRPr lang="en-IN"/>
          </a:p>
        </p:txBody>
      </p:sp>
      <p:sp>
        <p:nvSpPr>
          <p:cNvPr id="5" name="Footer Placeholder 4">
            <a:extLst>
              <a:ext uri="{FF2B5EF4-FFF2-40B4-BE49-F238E27FC236}">
                <a16:creationId xmlns:a16="http://schemas.microsoft.com/office/drawing/2014/main" id="{D7F2B762-BE13-0C77-BC76-C6557FE072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B7D7EE-8ED6-3BA8-916E-6AFDD625529E}"/>
              </a:ext>
            </a:extLst>
          </p:cNvPr>
          <p:cNvSpPr>
            <a:spLocks noGrp="1"/>
          </p:cNvSpPr>
          <p:nvPr>
            <p:ph type="sldNum" sz="quarter" idx="12"/>
          </p:nvPr>
        </p:nvSpPr>
        <p:spPr/>
        <p:txBody>
          <a:bodyPr/>
          <a:lstStyle/>
          <a:p>
            <a:fld id="{CEF328CE-F7F5-467A-8514-431F2FF17CEF}" type="slidenum">
              <a:rPr lang="en-IN" smtClean="0"/>
              <a:t>‹#›</a:t>
            </a:fld>
            <a:endParaRPr lang="en-IN"/>
          </a:p>
        </p:txBody>
      </p:sp>
    </p:spTree>
    <p:extLst>
      <p:ext uri="{BB962C8B-B14F-4D97-AF65-F5344CB8AC3E}">
        <p14:creationId xmlns:p14="http://schemas.microsoft.com/office/powerpoint/2010/main" val="302472699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64C315-1F42-1587-253C-B172D9F5B056}"/>
              </a:ext>
            </a:extLst>
          </p:cNvPr>
          <p:cNvSpPr>
            <a:spLocks noGrp="1"/>
          </p:cNvSpPr>
          <p:nvPr>
            <p:ph type="title" orient="vert"/>
          </p:nvPr>
        </p:nvSpPr>
        <p:spPr>
          <a:xfrm>
            <a:off x="10469880" y="438150"/>
            <a:ext cx="3154680" cy="6974206"/>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F84390-E86B-C909-DA69-DBFC01A2E432}"/>
              </a:ext>
            </a:extLst>
          </p:cNvPr>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3A2C32-A362-1419-6179-DB4B5082750C}"/>
              </a:ext>
            </a:extLst>
          </p:cNvPr>
          <p:cNvSpPr>
            <a:spLocks noGrp="1"/>
          </p:cNvSpPr>
          <p:nvPr>
            <p:ph type="dt" sz="half" idx="10"/>
          </p:nvPr>
        </p:nvSpPr>
        <p:spPr/>
        <p:txBody>
          <a:bodyPr/>
          <a:lstStyle/>
          <a:p>
            <a:fld id="{F10ACDC3-D686-40CB-A19A-8A8EECB12D26}" type="datetimeFigureOut">
              <a:rPr lang="en-IN" smtClean="0"/>
              <a:t>10-04-2026</a:t>
            </a:fld>
            <a:endParaRPr lang="en-IN"/>
          </a:p>
        </p:txBody>
      </p:sp>
      <p:sp>
        <p:nvSpPr>
          <p:cNvPr id="5" name="Footer Placeholder 4">
            <a:extLst>
              <a:ext uri="{FF2B5EF4-FFF2-40B4-BE49-F238E27FC236}">
                <a16:creationId xmlns:a16="http://schemas.microsoft.com/office/drawing/2014/main" id="{75B58311-1A96-8F0A-4CE4-AF57889349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91C6E5-7053-A557-77F8-1BD19A22E425}"/>
              </a:ext>
            </a:extLst>
          </p:cNvPr>
          <p:cNvSpPr>
            <a:spLocks noGrp="1"/>
          </p:cNvSpPr>
          <p:nvPr>
            <p:ph type="sldNum" sz="quarter" idx="12"/>
          </p:nvPr>
        </p:nvSpPr>
        <p:spPr/>
        <p:txBody>
          <a:bodyPr/>
          <a:lstStyle/>
          <a:p>
            <a:fld id="{CEF328CE-F7F5-467A-8514-431F2FF17CEF}" type="slidenum">
              <a:rPr lang="en-IN" smtClean="0"/>
              <a:t>‹#›</a:t>
            </a:fld>
            <a:endParaRPr lang="en-IN"/>
          </a:p>
        </p:txBody>
      </p:sp>
    </p:spTree>
    <p:extLst>
      <p:ext uri="{BB962C8B-B14F-4D97-AF65-F5344CB8AC3E}">
        <p14:creationId xmlns:p14="http://schemas.microsoft.com/office/powerpoint/2010/main" val="38968753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44074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40397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18263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93766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40998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613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17895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79710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33520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8477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5FFEAF-7F77-ED7E-6F52-0089E80880D1}"/>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6C6CFF-0F14-48A6-3C3F-03E33B3CAAFC}"/>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82409D-1DAF-9AB8-DBCC-61B7C94BA1CD}"/>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F10ACDC3-D686-40CB-A19A-8A8EECB12D26}" type="datetimeFigureOut">
              <a:rPr lang="en-IN" smtClean="0"/>
              <a:t>10-04-2026</a:t>
            </a:fld>
            <a:endParaRPr lang="en-IN"/>
          </a:p>
        </p:txBody>
      </p:sp>
      <p:sp>
        <p:nvSpPr>
          <p:cNvPr id="5" name="Footer Placeholder 4">
            <a:extLst>
              <a:ext uri="{FF2B5EF4-FFF2-40B4-BE49-F238E27FC236}">
                <a16:creationId xmlns:a16="http://schemas.microsoft.com/office/drawing/2014/main" id="{92820975-0DE7-2B83-8423-34A5E9E1836B}"/>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7468396-511D-E4E6-6289-3C9079E15B11}"/>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CEF328CE-F7F5-467A-8514-431F2FF17CEF}" type="slidenum">
              <a:rPr lang="en-IN" smtClean="0"/>
              <a:t>‹#›</a:t>
            </a:fld>
            <a:endParaRPr lang="en-IN"/>
          </a:p>
        </p:txBody>
      </p:sp>
    </p:spTree>
    <p:extLst>
      <p:ext uri="{BB962C8B-B14F-4D97-AF65-F5344CB8AC3E}">
        <p14:creationId xmlns:p14="http://schemas.microsoft.com/office/powerpoint/2010/main" val="41772113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9.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366010"/>
            <a:ext cx="6823353" cy="620078"/>
          </a:xfrm>
          <a:prstGeom prst="rect">
            <a:avLst/>
          </a:prstGeom>
          <a:noFill/>
          <a:ln/>
        </p:spPr>
        <p:txBody>
          <a:bodyPr wrap="none" lIns="0" tIns="0" rIns="0" bIns="0" rtlCol="0" anchor="t"/>
          <a:lstStyle/>
          <a:p>
            <a:pPr marL="0" indent="0" algn="l">
              <a:lnSpc>
                <a:spcPts val="4850"/>
              </a:lnSpc>
              <a:buNone/>
            </a:pPr>
            <a:r>
              <a:rPr lang="en-US" sz="3900" dirty="0">
                <a:solidFill>
                  <a:srgbClr val="4B6981"/>
                </a:solidFill>
                <a:latin typeface="Playfair Display Semi Bold" pitchFamily="34" charset="0"/>
                <a:ea typeface="Playfair Display Semi Bold" pitchFamily="34" charset="-122"/>
                <a:cs typeface="Playfair Display Semi Bold" pitchFamily="34" charset="-120"/>
              </a:rPr>
              <a:t>University Dropout Prediction</a:t>
            </a:r>
            <a:endParaRPr lang="en-US" sz="3900" dirty="0"/>
          </a:p>
        </p:txBody>
      </p:sp>
      <p:sp>
        <p:nvSpPr>
          <p:cNvPr id="3" name="Text 1"/>
          <p:cNvSpPr/>
          <p:nvPr/>
        </p:nvSpPr>
        <p:spPr>
          <a:xfrm>
            <a:off x="793790" y="3382923"/>
            <a:ext cx="13042821" cy="317540"/>
          </a:xfrm>
          <a:prstGeom prst="rect">
            <a:avLst/>
          </a:prstGeom>
          <a:noFill/>
          <a:ln/>
        </p:spPr>
        <p:txBody>
          <a:bodyPr wrap="none" lIns="0" tIns="0" rIns="0" bIns="0" rtlCol="0" anchor="t"/>
          <a:lstStyle/>
          <a:p>
            <a:pPr marL="0" indent="0" algn="l">
              <a:lnSpc>
                <a:spcPts val="2500"/>
              </a:lnSpc>
              <a:buNone/>
            </a:pPr>
            <a:r>
              <a:rPr lang="en-US" sz="1550" b="1" dirty="0">
                <a:solidFill>
                  <a:srgbClr val="6F655D"/>
                </a:solidFill>
                <a:latin typeface="Public Sans" pitchFamily="34" charset="0"/>
                <a:ea typeface="Public Sans" pitchFamily="34" charset="-122"/>
                <a:cs typeface="Public Sans" pitchFamily="34" charset="-120"/>
              </a:rPr>
              <a:t>Project Report</a:t>
            </a:r>
            <a:endParaRPr lang="en-US" sz="1550" dirty="0"/>
          </a:p>
        </p:txBody>
      </p:sp>
      <p:sp>
        <p:nvSpPr>
          <p:cNvPr id="4" name="Text 2"/>
          <p:cNvSpPr/>
          <p:nvPr/>
        </p:nvSpPr>
        <p:spPr>
          <a:xfrm>
            <a:off x="793790" y="3923705"/>
            <a:ext cx="13042821" cy="317540"/>
          </a:xfrm>
          <a:prstGeom prst="rect">
            <a:avLst/>
          </a:prstGeom>
          <a:noFill/>
          <a:ln/>
        </p:spPr>
        <p:txBody>
          <a:bodyPr wrap="none" lIns="0" tIns="0" rIns="0" bIns="0" rtlCol="0" anchor="t"/>
          <a:lstStyle/>
          <a:p>
            <a:pPr marL="0" indent="0" algn="l">
              <a:lnSpc>
                <a:spcPts val="2500"/>
              </a:lnSpc>
              <a:buNone/>
            </a:pPr>
            <a:r>
              <a:rPr lang="en-US" sz="1550" b="1" dirty="0">
                <a:solidFill>
                  <a:srgbClr val="6F655D"/>
                </a:solidFill>
                <a:latin typeface="Public Sans" pitchFamily="34" charset="0"/>
                <a:ea typeface="Public Sans" pitchFamily="34" charset="-122"/>
                <a:cs typeface="Public Sans" pitchFamily="34" charset="-120"/>
              </a:rPr>
              <a:t>Course:</a:t>
            </a:r>
            <a:r>
              <a:rPr lang="en-US" sz="1550" dirty="0">
                <a:solidFill>
                  <a:srgbClr val="6F655D"/>
                </a:solidFill>
                <a:latin typeface="Public Sans" pitchFamily="34" charset="0"/>
                <a:ea typeface="Public Sans" pitchFamily="34" charset="-122"/>
                <a:cs typeface="Public Sans" pitchFamily="34" charset="-120"/>
              </a:rPr>
              <a:t> Cluster Computing (INT-315)</a:t>
            </a:r>
            <a:endParaRPr lang="en-US" sz="1550" dirty="0"/>
          </a:p>
        </p:txBody>
      </p:sp>
      <p:sp>
        <p:nvSpPr>
          <p:cNvPr id="5" name="Text 3"/>
          <p:cNvSpPr/>
          <p:nvPr/>
        </p:nvSpPr>
        <p:spPr>
          <a:xfrm>
            <a:off x="793790" y="4464487"/>
            <a:ext cx="13042821" cy="317540"/>
          </a:xfrm>
          <a:prstGeom prst="rect">
            <a:avLst/>
          </a:prstGeom>
          <a:noFill/>
          <a:ln/>
        </p:spPr>
        <p:txBody>
          <a:bodyPr wrap="none" lIns="0" tIns="0" rIns="0" bIns="0" rtlCol="0" anchor="t"/>
          <a:lstStyle/>
          <a:p>
            <a:pPr marL="0" indent="0" algn="l">
              <a:lnSpc>
                <a:spcPts val="2500"/>
              </a:lnSpc>
              <a:buNone/>
            </a:pPr>
            <a:r>
              <a:rPr lang="en-US" sz="1550" b="1" dirty="0">
                <a:solidFill>
                  <a:srgbClr val="6F655D"/>
                </a:solidFill>
                <a:latin typeface="Public Sans" pitchFamily="34" charset="0"/>
                <a:ea typeface="Public Sans" pitchFamily="34" charset="-122"/>
                <a:cs typeface="Public Sans" pitchFamily="34" charset="-120"/>
              </a:rPr>
              <a:t>Student:</a:t>
            </a:r>
            <a:r>
              <a:rPr lang="en-US" sz="1550" dirty="0">
                <a:solidFill>
                  <a:srgbClr val="6F655D"/>
                </a:solidFill>
                <a:latin typeface="Public Sans" pitchFamily="34" charset="0"/>
                <a:ea typeface="Public Sans" pitchFamily="34" charset="-122"/>
                <a:cs typeface="Public Sans" pitchFamily="34" charset="-120"/>
              </a:rPr>
              <a:t> Meftahul Mehraj (12201102)</a:t>
            </a:r>
            <a:endParaRPr lang="en-US" sz="1550" dirty="0"/>
          </a:p>
        </p:txBody>
      </p:sp>
      <p:sp>
        <p:nvSpPr>
          <p:cNvPr id="6" name="Text 4"/>
          <p:cNvSpPr/>
          <p:nvPr/>
        </p:nvSpPr>
        <p:spPr>
          <a:xfrm>
            <a:off x="793790" y="5005268"/>
            <a:ext cx="13042821" cy="317540"/>
          </a:xfrm>
          <a:prstGeom prst="rect">
            <a:avLst/>
          </a:prstGeom>
          <a:noFill/>
          <a:ln/>
        </p:spPr>
        <p:txBody>
          <a:bodyPr wrap="none" lIns="0" tIns="0" rIns="0" bIns="0" rtlCol="0" anchor="t"/>
          <a:lstStyle/>
          <a:p>
            <a:pPr marL="0" indent="0" algn="l">
              <a:lnSpc>
                <a:spcPts val="2500"/>
              </a:lnSpc>
              <a:buNone/>
            </a:pPr>
            <a:r>
              <a:rPr lang="en-US" sz="1550" b="1" dirty="0">
                <a:solidFill>
                  <a:srgbClr val="6F655D"/>
                </a:solidFill>
                <a:latin typeface="Public Sans" pitchFamily="34" charset="0"/>
                <a:ea typeface="Public Sans" pitchFamily="34" charset="-122"/>
                <a:cs typeface="Public Sans" pitchFamily="34" charset="-120"/>
              </a:rPr>
              <a:t>Instructor:</a:t>
            </a:r>
            <a:r>
              <a:rPr lang="en-US" sz="1550" dirty="0">
                <a:solidFill>
                  <a:srgbClr val="6F655D"/>
                </a:solidFill>
                <a:latin typeface="Public Sans" pitchFamily="34" charset="0"/>
                <a:ea typeface="Public Sans" pitchFamily="34" charset="-122"/>
                <a:cs typeface="Public Sans" pitchFamily="34" charset="-120"/>
              </a:rPr>
              <a:t> Amanpal Singh Rayat</a:t>
            </a:r>
            <a:endParaRPr lang="en-US" sz="1550" dirty="0"/>
          </a:p>
        </p:txBody>
      </p:sp>
      <p:sp>
        <p:nvSpPr>
          <p:cNvPr id="7" name="Text 5"/>
          <p:cNvSpPr/>
          <p:nvPr/>
        </p:nvSpPr>
        <p:spPr>
          <a:xfrm>
            <a:off x="793790" y="5546050"/>
            <a:ext cx="13042821" cy="317540"/>
          </a:xfrm>
          <a:prstGeom prst="rect">
            <a:avLst/>
          </a:prstGeom>
          <a:noFill/>
          <a:ln/>
        </p:spPr>
        <p:txBody>
          <a:bodyPr wrap="none" lIns="0" tIns="0" rIns="0" bIns="0" rtlCol="0" anchor="t"/>
          <a:lstStyle/>
          <a:p>
            <a:pPr marL="0" indent="0" algn="l">
              <a:lnSpc>
                <a:spcPts val="2500"/>
              </a:lnSpc>
              <a:buNone/>
            </a:pPr>
            <a:r>
              <a:rPr lang="en-US" sz="1550" b="1" dirty="0">
                <a:solidFill>
                  <a:srgbClr val="6F655D"/>
                </a:solidFill>
                <a:latin typeface="Public Sans" pitchFamily="34" charset="0"/>
                <a:ea typeface="Public Sans" pitchFamily="34" charset="-122"/>
                <a:cs typeface="Public Sans" pitchFamily="34" charset="-120"/>
              </a:rPr>
              <a:t>Date:</a:t>
            </a:r>
            <a:r>
              <a:rPr lang="en-US" sz="1550" dirty="0">
                <a:solidFill>
                  <a:srgbClr val="6F655D"/>
                </a:solidFill>
                <a:latin typeface="Public Sans" pitchFamily="34" charset="0"/>
                <a:ea typeface="Public Sans" pitchFamily="34" charset="-122"/>
                <a:cs typeface="Public Sans" pitchFamily="34" charset="-120"/>
              </a:rPr>
              <a:t> 09/04/2026</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89171"/>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4B6981"/>
                </a:solidFill>
                <a:latin typeface="Playfair Display Semi Bold" pitchFamily="34" charset="0"/>
                <a:ea typeface="Playfair Display Semi Bold" pitchFamily="34" charset="-122"/>
                <a:cs typeface="Playfair Display Semi Bold" pitchFamily="34" charset="-120"/>
              </a:rPr>
              <a:t>Executive Summary</a:t>
            </a:r>
            <a:endParaRPr lang="en-US" sz="3900" dirty="0"/>
          </a:p>
        </p:txBody>
      </p:sp>
      <p:sp>
        <p:nvSpPr>
          <p:cNvPr id="3" name="Text 1"/>
          <p:cNvSpPr/>
          <p:nvPr/>
        </p:nvSpPr>
        <p:spPr>
          <a:xfrm>
            <a:off x="793790" y="210526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B6981"/>
                </a:solidFill>
                <a:latin typeface="Playfair Display Semi Bold" pitchFamily="34" charset="0"/>
                <a:ea typeface="Playfair Display Semi Bold" pitchFamily="34" charset="-122"/>
                <a:cs typeface="Playfair Display Semi Bold" pitchFamily="34" charset="-120"/>
              </a:rPr>
              <a:t>Project Objective</a:t>
            </a:r>
            <a:endParaRPr lang="en-US" sz="1950" dirty="0"/>
          </a:p>
        </p:txBody>
      </p:sp>
      <p:sp>
        <p:nvSpPr>
          <p:cNvPr id="4" name="Text 2"/>
          <p:cNvSpPr/>
          <p:nvPr/>
        </p:nvSpPr>
        <p:spPr>
          <a:xfrm>
            <a:off x="793790" y="2613779"/>
            <a:ext cx="6279356" cy="1905238"/>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This project focuses on predicting student dropout risk using machine learning techniques implemented through PySpark. Educational institutions face significant challenges in identifying students who are likely to discontinue their studies. Early prediction allows institutions to take preventive measures such as counselling, academic support, and engagement programmes.</a:t>
            </a:r>
            <a:endParaRPr lang="en-US" sz="1550" dirty="0"/>
          </a:p>
        </p:txBody>
      </p:sp>
      <p:sp>
        <p:nvSpPr>
          <p:cNvPr id="5" name="Text 3"/>
          <p:cNvSpPr/>
          <p:nvPr/>
        </p:nvSpPr>
        <p:spPr>
          <a:xfrm>
            <a:off x="7564874" y="210526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B6981"/>
                </a:solidFill>
                <a:latin typeface="Playfair Display Semi Bold" pitchFamily="34" charset="0"/>
                <a:ea typeface="Playfair Display Semi Bold" pitchFamily="34" charset="-122"/>
                <a:cs typeface="Playfair Display Semi Bold" pitchFamily="34" charset="-120"/>
              </a:rPr>
              <a:t>Methodology</a:t>
            </a:r>
            <a:endParaRPr lang="en-US" sz="1950" dirty="0"/>
          </a:p>
        </p:txBody>
      </p:sp>
      <p:sp>
        <p:nvSpPr>
          <p:cNvPr id="6" name="Text 4"/>
          <p:cNvSpPr/>
          <p:nvPr/>
        </p:nvSpPr>
        <p:spPr>
          <a:xfrm>
            <a:off x="7564874" y="2613779"/>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A synthetic dataset representing student demographic and academic performance attributes is used to simulate real-world conditions. The dataset includes variables such as gender, region, programme type, attendance, and academic grades. These features are crucial indicators of student performance and engagement.</a:t>
            </a:r>
            <a:endParaRPr lang="en-US" sz="1550" dirty="0"/>
          </a:p>
        </p:txBody>
      </p:sp>
      <p:sp>
        <p:nvSpPr>
          <p:cNvPr id="7" name="Shape 5"/>
          <p:cNvSpPr/>
          <p:nvPr/>
        </p:nvSpPr>
        <p:spPr>
          <a:xfrm>
            <a:off x="793790" y="4920853"/>
            <a:ext cx="4215289" cy="2319576"/>
          </a:xfrm>
          <a:prstGeom prst="roundRect">
            <a:avLst>
              <a:gd name="adj" fmla="val 3594"/>
            </a:avLst>
          </a:prstGeom>
          <a:solidFill>
            <a:srgbClr val="E1C2C2">
              <a:alpha val="50000"/>
            </a:srgbClr>
          </a:solidFill>
          <a:ln w="7620">
            <a:solidFill>
              <a:srgbClr val="C7A8A8"/>
            </a:solidFill>
            <a:prstDash val="solid"/>
          </a:ln>
          <a:effectLst>
            <a:outerShdw dist="25400" dir="2700000" algn="bl" rotWithShape="0">
              <a:srgbClr val="C7A8A8">
                <a:alpha val="100000"/>
              </a:srgbClr>
            </a:outerShdw>
          </a:effectLst>
        </p:spPr>
      </p:sp>
      <p:sp>
        <p:nvSpPr>
          <p:cNvPr id="8" name="Text 6"/>
          <p:cNvSpPr/>
          <p:nvPr/>
        </p:nvSpPr>
        <p:spPr>
          <a:xfrm>
            <a:off x="999768" y="512683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layfair Display Semi Bold" pitchFamily="34" charset="0"/>
                <a:ea typeface="Playfair Display Semi Bold" pitchFamily="34" charset="-122"/>
                <a:cs typeface="Playfair Display Semi Bold" pitchFamily="34" charset="-120"/>
              </a:rPr>
              <a:t>Key Features</a:t>
            </a:r>
            <a:endParaRPr lang="en-US" sz="1950" dirty="0"/>
          </a:p>
        </p:txBody>
      </p:sp>
      <p:sp>
        <p:nvSpPr>
          <p:cNvPr id="9" name="Text 7"/>
          <p:cNvSpPr/>
          <p:nvPr/>
        </p:nvSpPr>
        <p:spPr>
          <a:xfrm>
            <a:off x="999768" y="5556052"/>
            <a:ext cx="3803333" cy="147839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000000"/>
                </a:solidFill>
                <a:latin typeface="Public Sans" pitchFamily="34" charset="0"/>
                <a:ea typeface="Public Sans" pitchFamily="34" charset="-122"/>
                <a:cs typeface="Public Sans" pitchFamily="34" charset="-120"/>
              </a:rPr>
              <a:t>Gender and region demographics</a:t>
            </a:r>
            <a:endParaRPr lang="en-US" sz="1550" dirty="0"/>
          </a:p>
          <a:p>
            <a:pPr marL="342900" indent="-342900" algn="l">
              <a:lnSpc>
                <a:spcPts val="2500"/>
              </a:lnSpc>
              <a:buSzPct val="100000"/>
              <a:buChar char="•"/>
            </a:pPr>
            <a:r>
              <a:rPr lang="en-US" sz="1550" dirty="0">
                <a:solidFill>
                  <a:srgbClr val="000000"/>
                </a:solidFill>
                <a:latin typeface="Public Sans" pitchFamily="34" charset="0"/>
                <a:ea typeface="Public Sans" pitchFamily="34" charset="-122"/>
                <a:cs typeface="Public Sans" pitchFamily="34" charset="-120"/>
              </a:rPr>
              <a:t>Programme type classification</a:t>
            </a:r>
            <a:endParaRPr lang="en-US" sz="1550" dirty="0"/>
          </a:p>
          <a:p>
            <a:pPr marL="342900" indent="-342900" algn="l">
              <a:lnSpc>
                <a:spcPts val="2500"/>
              </a:lnSpc>
              <a:buSzPct val="100000"/>
              <a:buChar char="•"/>
            </a:pPr>
            <a:r>
              <a:rPr lang="en-US" sz="1550" dirty="0">
                <a:solidFill>
                  <a:srgbClr val="000000"/>
                </a:solidFill>
                <a:latin typeface="Public Sans" pitchFamily="34" charset="0"/>
                <a:ea typeface="Public Sans" pitchFamily="34" charset="-122"/>
                <a:cs typeface="Public Sans" pitchFamily="34" charset="-120"/>
              </a:rPr>
              <a:t>Attendance and grade metrics</a:t>
            </a:r>
            <a:endParaRPr lang="en-US" sz="1550" dirty="0"/>
          </a:p>
          <a:p>
            <a:pPr marL="342900" indent="-342900" algn="l">
              <a:lnSpc>
                <a:spcPts val="2500"/>
              </a:lnSpc>
              <a:buSzPct val="100000"/>
              <a:buChar char="•"/>
            </a:pPr>
            <a:r>
              <a:rPr lang="en-US" sz="1550" dirty="0">
                <a:solidFill>
                  <a:srgbClr val="000000"/>
                </a:solidFill>
                <a:latin typeface="Public Sans" pitchFamily="34" charset="0"/>
                <a:ea typeface="Public Sans" pitchFamily="34" charset="-122"/>
                <a:cs typeface="Public Sans" pitchFamily="34" charset="-120"/>
              </a:rPr>
              <a:t>Missing value imputation</a:t>
            </a:r>
            <a:endParaRPr lang="en-US" sz="1550" dirty="0"/>
          </a:p>
        </p:txBody>
      </p:sp>
      <p:sp>
        <p:nvSpPr>
          <p:cNvPr id="10" name="Shape 8"/>
          <p:cNvSpPr/>
          <p:nvPr/>
        </p:nvSpPr>
        <p:spPr>
          <a:xfrm>
            <a:off x="5207437" y="4920853"/>
            <a:ext cx="4215408" cy="2319576"/>
          </a:xfrm>
          <a:prstGeom prst="roundRect">
            <a:avLst>
              <a:gd name="adj" fmla="val 3594"/>
            </a:avLst>
          </a:prstGeom>
          <a:solidFill>
            <a:srgbClr val="CCC4EC">
              <a:alpha val="50000"/>
            </a:srgbClr>
          </a:solidFill>
          <a:ln w="7620">
            <a:solidFill>
              <a:srgbClr val="B2AAD2"/>
            </a:solidFill>
            <a:prstDash val="solid"/>
          </a:ln>
          <a:effectLst>
            <a:outerShdw dist="25400" dir="2700000" algn="bl" rotWithShape="0">
              <a:srgbClr val="B2AAD2">
                <a:alpha val="100000"/>
              </a:srgbClr>
            </a:outerShdw>
          </a:effectLst>
        </p:spPr>
      </p:sp>
      <p:sp>
        <p:nvSpPr>
          <p:cNvPr id="11" name="Text 9"/>
          <p:cNvSpPr/>
          <p:nvPr/>
        </p:nvSpPr>
        <p:spPr>
          <a:xfrm>
            <a:off x="5413415" y="512683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layfair Display Semi Bold" pitchFamily="34" charset="0"/>
                <a:ea typeface="Playfair Display Semi Bold" pitchFamily="34" charset="-122"/>
                <a:cs typeface="Playfair Display Semi Bold" pitchFamily="34" charset="-120"/>
              </a:rPr>
              <a:t>Technical Approach</a:t>
            </a:r>
            <a:endParaRPr lang="en-US" sz="1950" dirty="0"/>
          </a:p>
        </p:txBody>
      </p:sp>
      <p:sp>
        <p:nvSpPr>
          <p:cNvPr id="12" name="Text 10"/>
          <p:cNvSpPr/>
          <p:nvPr/>
        </p:nvSpPr>
        <p:spPr>
          <a:xfrm>
            <a:off x="5413415" y="5556052"/>
            <a:ext cx="3803452" cy="147839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000000"/>
                </a:solidFill>
                <a:latin typeface="Public Sans" pitchFamily="34" charset="0"/>
                <a:ea typeface="Public Sans" pitchFamily="34" charset="-122"/>
                <a:cs typeface="Public Sans" pitchFamily="34" charset="-120"/>
              </a:rPr>
              <a:t>PySpark for big data processing</a:t>
            </a:r>
            <a:endParaRPr lang="en-US" sz="1550" dirty="0"/>
          </a:p>
          <a:p>
            <a:pPr marL="342900" indent="-342900" algn="l">
              <a:lnSpc>
                <a:spcPts val="2500"/>
              </a:lnSpc>
              <a:buSzPct val="100000"/>
              <a:buChar char="•"/>
            </a:pPr>
            <a:r>
              <a:rPr lang="en-US" sz="1550" dirty="0">
                <a:solidFill>
                  <a:srgbClr val="000000"/>
                </a:solidFill>
                <a:latin typeface="Public Sans" pitchFamily="34" charset="0"/>
                <a:ea typeface="Public Sans" pitchFamily="34" charset="-122"/>
                <a:cs typeface="Public Sans" pitchFamily="34" charset="-120"/>
              </a:rPr>
              <a:t>Random Forest classifier</a:t>
            </a:r>
            <a:endParaRPr lang="en-US" sz="1550" dirty="0"/>
          </a:p>
          <a:p>
            <a:pPr marL="342900" indent="-342900" algn="l">
              <a:lnSpc>
                <a:spcPts val="2500"/>
              </a:lnSpc>
              <a:buSzPct val="100000"/>
              <a:buChar char="•"/>
            </a:pPr>
            <a:r>
              <a:rPr lang="en-US" sz="1550" dirty="0">
                <a:solidFill>
                  <a:srgbClr val="000000"/>
                </a:solidFill>
                <a:latin typeface="Public Sans" pitchFamily="34" charset="0"/>
                <a:ea typeface="Public Sans" pitchFamily="34" charset="-122"/>
                <a:cs typeface="Public Sans" pitchFamily="34" charset="-120"/>
              </a:rPr>
              <a:t>StringIndexer transformation</a:t>
            </a:r>
            <a:endParaRPr lang="en-US" sz="1550" dirty="0"/>
          </a:p>
          <a:p>
            <a:pPr marL="342900" indent="-342900" algn="l">
              <a:lnSpc>
                <a:spcPts val="2500"/>
              </a:lnSpc>
              <a:buSzPct val="100000"/>
              <a:buChar char="•"/>
            </a:pPr>
            <a:r>
              <a:rPr lang="en-US" sz="1550" dirty="0">
                <a:solidFill>
                  <a:srgbClr val="000000"/>
                </a:solidFill>
                <a:latin typeface="Public Sans" pitchFamily="34" charset="0"/>
                <a:ea typeface="Public Sans" pitchFamily="34" charset="-122"/>
                <a:cs typeface="Public Sans" pitchFamily="34" charset="-120"/>
              </a:rPr>
              <a:t>VectorAssembler for features</a:t>
            </a:r>
            <a:endParaRPr lang="en-US" sz="1550" dirty="0"/>
          </a:p>
        </p:txBody>
      </p:sp>
      <p:sp>
        <p:nvSpPr>
          <p:cNvPr id="13" name="Shape 11"/>
          <p:cNvSpPr/>
          <p:nvPr/>
        </p:nvSpPr>
        <p:spPr>
          <a:xfrm>
            <a:off x="9621203" y="4920853"/>
            <a:ext cx="4215289" cy="2319576"/>
          </a:xfrm>
          <a:prstGeom prst="roundRect">
            <a:avLst>
              <a:gd name="adj" fmla="val 3594"/>
            </a:avLst>
          </a:prstGeom>
          <a:solidFill>
            <a:srgbClr val="B4DAE4">
              <a:alpha val="50000"/>
            </a:srgbClr>
          </a:solidFill>
          <a:ln w="7620">
            <a:solidFill>
              <a:srgbClr val="9AC0CA"/>
            </a:solidFill>
            <a:prstDash val="solid"/>
          </a:ln>
          <a:effectLst>
            <a:outerShdw dist="25400" dir="2700000" algn="bl" rotWithShape="0">
              <a:srgbClr val="9AC0CA">
                <a:alpha val="100000"/>
              </a:srgbClr>
            </a:outerShdw>
          </a:effectLst>
        </p:spPr>
      </p:sp>
      <p:sp>
        <p:nvSpPr>
          <p:cNvPr id="14" name="Text 12"/>
          <p:cNvSpPr/>
          <p:nvPr/>
        </p:nvSpPr>
        <p:spPr>
          <a:xfrm>
            <a:off x="9827181" y="512683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layfair Display Semi Bold" pitchFamily="34" charset="0"/>
                <a:ea typeface="Playfair Display Semi Bold" pitchFamily="34" charset="-122"/>
                <a:cs typeface="Playfair Display Semi Bold" pitchFamily="34" charset="-120"/>
              </a:rPr>
              <a:t>Evaluation Metrics</a:t>
            </a:r>
            <a:endParaRPr lang="en-US" sz="1950" dirty="0"/>
          </a:p>
        </p:txBody>
      </p:sp>
      <p:sp>
        <p:nvSpPr>
          <p:cNvPr id="15" name="Text 13"/>
          <p:cNvSpPr/>
          <p:nvPr/>
        </p:nvSpPr>
        <p:spPr>
          <a:xfrm>
            <a:off x="9827181" y="5556052"/>
            <a:ext cx="3803333" cy="147839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000000"/>
                </a:solidFill>
                <a:latin typeface="Public Sans" pitchFamily="34" charset="0"/>
                <a:ea typeface="Public Sans" pitchFamily="34" charset="-122"/>
                <a:cs typeface="Public Sans" pitchFamily="34" charset="-120"/>
              </a:rPr>
              <a:t>ROC-AUC score analysis</a:t>
            </a:r>
            <a:endParaRPr lang="en-US" sz="1550" dirty="0"/>
          </a:p>
          <a:p>
            <a:pPr marL="342900" indent="-342900" algn="l">
              <a:lnSpc>
                <a:spcPts val="2500"/>
              </a:lnSpc>
              <a:buSzPct val="100000"/>
              <a:buChar char="•"/>
            </a:pPr>
            <a:r>
              <a:rPr lang="en-US" sz="1550" dirty="0">
                <a:solidFill>
                  <a:srgbClr val="000000"/>
                </a:solidFill>
                <a:latin typeface="Public Sans" pitchFamily="34" charset="0"/>
                <a:ea typeface="Public Sans" pitchFamily="34" charset="-122"/>
                <a:cs typeface="Public Sans" pitchFamily="34" charset="-120"/>
              </a:rPr>
              <a:t>F1-score measurement</a:t>
            </a:r>
            <a:endParaRPr lang="en-US" sz="1550" dirty="0"/>
          </a:p>
          <a:p>
            <a:pPr marL="342900" indent="-342900" algn="l">
              <a:lnSpc>
                <a:spcPts val="2500"/>
              </a:lnSpc>
              <a:buSzPct val="100000"/>
              <a:buChar char="•"/>
            </a:pPr>
            <a:r>
              <a:rPr lang="en-US" sz="1550" dirty="0">
                <a:solidFill>
                  <a:srgbClr val="000000"/>
                </a:solidFill>
                <a:latin typeface="Public Sans" pitchFamily="34" charset="0"/>
                <a:ea typeface="Public Sans" pitchFamily="34" charset="-122"/>
                <a:cs typeface="Public Sans" pitchFamily="34" charset="-120"/>
              </a:rPr>
              <a:t>Probability predictions</a:t>
            </a:r>
            <a:endParaRPr lang="en-US" sz="1550" dirty="0"/>
          </a:p>
          <a:p>
            <a:pPr marL="342900" indent="-342900" algn="l">
              <a:lnSpc>
                <a:spcPts val="2500"/>
              </a:lnSpc>
              <a:buSzPct val="100000"/>
              <a:buChar char="•"/>
            </a:pPr>
            <a:r>
              <a:rPr lang="en-US" sz="1550" dirty="0">
                <a:solidFill>
                  <a:srgbClr val="000000"/>
                </a:solidFill>
                <a:latin typeface="Public Sans" pitchFamily="34" charset="0"/>
                <a:ea typeface="Public Sans" pitchFamily="34" charset="-122"/>
                <a:cs typeface="Public Sans" pitchFamily="34" charset="-120"/>
              </a:rPr>
              <a:t>Visualisation outputs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937022"/>
            <a:ext cx="8416528" cy="620078"/>
          </a:xfrm>
          <a:prstGeom prst="rect">
            <a:avLst/>
          </a:prstGeom>
          <a:noFill/>
          <a:ln/>
        </p:spPr>
        <p:txBody>
          <a:bodyPr wrap="none" lIns="0" tIns="0" rIns="0" bIns="0" rtlCol="0" anchor="t"/>
          <a:lstStyle/>
          <a:p>
            <a:pPr marL="0" indent="0" algn="l">
              <a:lnSpc>
                <a:spcPts val="4850"/>
              </a:lnSpc>
              <a:buNone/>
            </a:pPr>
            <a:r>
              <a:rPr lang="en-US" sz="3900" dirty="0">
                <a:solidFill>
                  <a:srgbClr val="4B6981"/>
                </a:solidFill>
                <a:latin typeface="Playfair Display Semi Bold" pitchFamily="34" charset="0"/>
                <a:ea typeface="Playfair Display Semi Bold" pitchFamily="34" charset="-122"/>
                <a:cs typeface="Playfair Display Semi Bold" pitchFamily="34" charset="-120"/>
              </a:rPr>
              <a:t>Introduction: The Dropout Challenge</a:t>
            </a:r>
            <a:endParaRPr lang="en-US" sz="3900" dirty="0"/>
          </a:p>
        </p:txBody>
      </p:sp>
      <p:sp>
        <p:nvSpPr>
          <p:cNvPr id="3" name="Text 1"/>
          <p:cNvSpPr/>
          <p:nvPr/>
        </p:nvSpPr>
        <p:spPr>
          <a:xfrm>
            <a:off x="793790" y="1953935"/>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Student dropout is a critical issue faced by educational institutions worldwide. It not only affects the individual student's future prospects but also impacts institutional performance and reputation. With the increasing availability of educational data, predictive analytics has emerged as a powerful tool to address this problem.</a:t>
            </a:r>
            <a:endParaRPr lang="en-US" sz="1550" dirty="0"/>
          </a:p>
        </p:txBody>
      </p:sp>
      <p:sp>
        <p:nvSpPr>
          <p:cNvPr id="4" name="Text 2"/>
          <p:cNvSpPr/>
          <p:nvPr/>
        </p:nvSpPr>
        <p:spPr>
          <a:xfrm>
            <a:off x="793790" y="3129796"/>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The objective of this project is to develop a predictive model that can identify students at risk of dropping out based on their academic and demographic attributes. By leveraging big data technologies such as PySpark, it becomes possible to process and analyse large-scale datasets efficiently.</a:t>
            </a:r>
            <a:endParaRPr lang="en-US" sz="1550" dirty="0"/>
          </a:p>
        </p:txBody>
      </p:sp>
      <p:sp>
        <p:nvSpPr>
          <p:cNvPr id="5" name="Text 3"/>
          <p:cNvSpPr/>
          <p:nvPr/>
        </p:nvSpPr>
        <p:spPr>
          <a:xfrm>
            <a:off x="793790" y="4305657"/>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Traditional methods of identifying at-risk students often rely on manual observation and limited data analysis. However, these approaches are not scalable and may fail to detect subtle patterns. Machine learning models, on the other hand, can uncover complex relationships between variables and provide more accurate predictions.</a:t>
            </a:r>
            <a:endParaRPr lang="en-US" sz="1550" dirty="0"/>
          </a:p>
        </p:txBody>
      </p:sp>
      <p:sp>
        <p:nvSpPr>
          <p:cNvPr id="6" name="Text 4"/>
          <p:cNvSpPr/>
          <p:nvPr/>
        </p:nvSpPr>
        <p:spPr>
          <a:xfrm>
            <a:off x="793790" y="548151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In this project, a Random Forest classifier is used due to its robustness and ability to handle both numerical and categorical data. The model is trained on a dataset that includes features such as attendance, grades, gender, region, and programme type.</a:t>
            </a:r>
            <a:endParaRPr lang="en-US" sz="1550" dirty="0"/>
          </a:p>
        </p:txBody>
      </p:sp>
      <p:sp>
        <p:nvSpPr>
          <p:cNvPr id="7" name="Text 5"/>
          <p:cNvSpPr/>
          <p:nvPr/>
        </p:nvSpPr>
        <p:spPr>
          <a:xfrm>
            <a:off x="793790" y="6339840"/>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The significance of this study lies in its practical applications. Institutions can use such predictive models to implement early intervention strategies, thereby reducing dropout rates and improving student success. Furthermore, the use of PySpark ensures that the solution is scalable and suitable for real-world big data environments.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44260" y="571143"/>
            <a:ext cx="6649045" cy="581382"/>
          </a:xfrm>
          <a:prstGeom prst="rect">
            <a:avLst/>
          </a:prstGeom>
          <a:noFill/>
          <a:ln/>
        </p:spPr>
        <p:txBody>
          <a:bodyPr wrap="none" lIns="0" tIns="0" rIns="0" bIns="0" rtlCol="0" anchor="t"/>
          <a:lstStyle/>
          <a:p>
            <a:pPr marL="0" indent="0" algn="l">
              <a:lnSpc>
                <a:spcPts val="4550"/>
              </a:lnSpc>
              <a:buNone/>
            </a:pPr>
            <a:r>
              <a:rPr lang="en-US" sz="3650" dirty="0">
                <a:solidFill>
                  <a:srgbClr val="4B6981"/>
                </a:solidFill>
                <a:latin typeface="Playfair Display Semi Bold" pitchFamily="34" charset="0"/>
                <a:ea typeface="Playfair Display Semi Bold" pitchFamily="34" charset="-122"/>
                <a:cs typeface="Playfair Display Semi Bold" pitchFamily="34" charset="-120"/>
              </a:rPr>
              <a:t>Methodology: Data Preparation</a:t>
            </a:r>
            <a:endParaRPr lang="en-US" sz="3650" dirty="0"/>
          </a:p>
        </p:txBody>
      </p:sp>
      <p:sp>
        <p:nvSpPr>
          <p:cNvPr id="3" name="Text 1"/>
          <p:cNvSpPr/>
          <p:nvPr/>
        </p:nvSpPr>
        <p:spPr>
          <a:xfrm>
            <a:off x="744260" y="1501378"/>
            <a:ext cx="372070" cy="232529"/>
          </a:xfrm>
          <a:prstGeom prst="rect">
            <a:avLst/>
          </a:prstGeom>
          <a:noFill/>
          <a:ln/>
        </p:spPr>
        <p:txBody>
          <a:bodyPr wrap="none" lIns="0" tIns="0" rIns="0" bIns="0" rtlCol="0" anchor="t"/>
          <a:lstStyle/>
          <a:p>
            <a:pPr marL="0" indent="0" algn="l">
              <a:lnSpc>
                <a:spcPts val="2250"/>
              </a:lnSpc>
              <a:buNone/>
            </a:pPr>
            <a:r>
              <a:rPr lang="en-US" sz="1450" dirty="0">
                <a:solidFill>
                  <a:srgbClr val="6F655D"/>
                </a:solidFill>
                <a:latin typeface="Playfair Display Light" pitchFamily="34" charset="0"/>
                <a:ea typeface="Playfair Display Light" pitchFamily="34" charset="-122"/>
                <a:cs typeface="Playfair Display Light" pitchFamily="34" charset="-120"/>
              </a:rPr>
              <a:t>01</a:t>
            </a:r>
            <a:endParaRPr lang="en-US" sz="1450" dirty="0"/>
          </a:p>
        </p:txBody>
      </p:sp>
      <p:sp>
        <p:nvSpPr>
          <p:cNvPr id="4" name="Shape 2"/>
          <p:cNvSpPr/>
          <p:nvPr/>
        </p:nvSpPr>
        <p:spPr>
          <a:xfrm>
            <a:off x="744260" y="1794629"/>
            <a:ext cx="4264343" cy="22860"/>
          </a:xfrm>
          <a:prstGeom prst="rect">
            <a:avLst/>
          </a:prstGeom>
          <a:solidFill>
            <a:srgbClr val="E1C2C2"/>
          </a:solidFill>
          <a:ln/>
        </p:spPr>
      </p:sp>
      <p:sp>
        <p:nvSpPr>
          <p:cNvPr id="5" name="Text 3"/>
          <p:cNvSpPr/>
          <p:nvPr/>
        </p:nvSpPr>
        <p:spPr>
          <a:xfrm>
            <a:off x="744260" y="1933337"/>
            <a:ext cx="2325767" cy="290632"/>
          </a:xfrm>
          <a:prstGeom prst="rect">
            <a:avLst/>
          </a:prstGeom>
          <a:noFill/>
          <a:ln/>
        </p:spPr>
        <p:txBody>
          <a:bodyPr wrap="none" lIns="0" tIns="0" rIns="0" bIns="0" rtlCol="0" anchor="t"/>
          <a:lstStyle/>
          <a:p>
            <a:pPr marL="0" indent="0" algn="l">
              <a:lnSpc>
                <a:spcPts val="2250"/>
              </a:lnSpc>
              <a:buNone/>
            </a:pPr>
            <a:r>
              <a:rPr lang="en-US" sz="1800" dirty="0">
                <a:solidFill>
                  <a:srgbClr val="6F655D"/>
                </a:solidFill>
                <a:latin typeface="Playfair Display Semi Bold" pitchFamily="34" charset="0"/>
                <a:ea typeface="Playfair Display Semi Bold" pitchFamily="34" charset="-122"/>
                <a:cs typeface="Playfair Display Semi Bold" pitchFamily="34" charset="-120"/>
              </a:rPr>
              <a:t>Dataset Creation</a:t>
            </a:r>
            <a:endParaRPr lang="en-US" sz="1800" dirty="0"/>
          </a:p>
        </p:txBody>
      </p:sp>
      <p:sp>
        <p:nvSpPr>
          <p:cNvPr id="6" name="Text 4"/>
          <p:cNvSpPr/>
          <p:nvPr/>
        </p:nvSpPr>
        <p:spPr>
          <a:xfrm>
            <a:off x="744260" y="2328624"/>
            <a:ext cx="4264343" cy="865108"/>
          </a:xfrm>
          <a:prstGeom prst="rect">
            <a:avLst/>
          </a:prstGeom>
          <a:noFill/>
          <a:ln/>
        </p:spPr>
        <p:txBody>
          <a:bodyPr wrap="square" lIns="0" tIns="0" rIns="0" bIns="0" rtlCol="0" anchor="t"/>
          <a:lstStyle/>
          <a:p>
            <a:pPr marL="0" indent="0" algn="l">
              <a:lnSpc>
                <a:spcPts val="2250"/>
              </a:lnSpc>
              <a:buNone/>
            </a:pPr>
            <a:r>
              <a:rPr lang="en-US" sz="1450" dirty="0">
                <a:solidFill>
                  <a:srgbClr val="6F655D"/>
                </a:solidFill>
                <a:latin typeface="Public Sans" pitchFamily="34" charset="0"/>
                <a:ea typeface="Public Sans" pitchFamily="34" charset="-122"/>
                <a:cs typeface="Public Sans" pitchFamily="34" charset="-120"/>
              </a:rPr>
              <a:t>A synthetic representation of student records including both numerical and categorical variables</a:t>
            </a:r>
            <a:endParaRPr lang="en-US" sz="1450" dirty="0"/>
          </a:p>
        </p:txBody>
      </p:sp>
      <p:sp>
        <p:nvSpPr>
          <p:cNvPr id="7" name="Text 5"/>
          <p:cNvSpPr/>
          <p:nvPr/>
        </p:nvSpPr>
        <p:spPr>
          <a:xfrm>
            <a:off x="5183029" y="1501378"/>
            <a:ext cx="372070" cy="232529"/>
          </a:xfrm>
          <a:prstGeom prst="rect">
            <a:avLst/>
          </a:prstGeom>
          <a:noFill/>
          <a:ln/>
        </p:spPr>
        <p:txBody>
          <a:bodyPr wrap="none" lIns="0" tIns="0" rIns="0" bIns="0" rtlCol="0" anchor="t"/>
          <a:lstStyle/>
          <a:p>
            <a:pPr marL="0" indent="0" algn="l">
              <a:lnSpc>
                <a:spcPts val="2250"/>
              </a:lnSpc>
              <a:buNone/>
            </a:pPr>
            <a:r>
              <a:rPr lang="en-US" sz="1450" dirty="0">
                <a:solidFill>
                  <a:srgbClr val="6F655D"/>
                </a:solidFill>
                <a:latin typeface="Playfair Display Light" pitchFamily="34" charset="0"/>
                <a:ea typeface="Playfair Display Light" pitchFamily="34" charset="-122"/>
                <a:cs typeface="Playfair Display Light" pitchFamily="34" charset="-120"/>
              </a:rPr>
              <a:t>02</a:t>
            </a:r>
            <a:endParaRPr lang="en-US" sz="1450" dirty="0"/>
          </a:p>
        </p:txBody>
      </p:sp>
      <p:sp>
        <p:nvSpPr>
          <p:cNvPr id="8" name="Shape 6"/>
          <p:cNvSpPr/>
          <p:nvPr/>
        </p:nvSpPr>
        <p:spPr>
          <a:xfrm>
            <a:off x="5183029" y="1794629"/>
            <a:ext cx="4264343" cy="22860"/>
          </a:xfrm>
          <a:prstGeom prst="rect">
            <a:avLst/>
          </a:prstGeom>
          <a:solidFill>
            <a:srgbClr val="CCC4EC"/>
          </a:solidFill>
          <a:ln/>
        </p:spPr>
      </p:sp>
      <p:sp>
        <p:nvSpPr>
          <p:cNvPr id="9" name="Text 7"/>
          <p:cNvSpPr/>
          <p:nvPr/>
        </p:nvSpPr>
        <p:spPr>
          <a:xfrm>
            <a:off x="5183029" y="1933337"/>
            <a:ext cx="2505313" cy="290632"/>
          </a:xfrm>
          <a:prstGeom prst="rect">
            <a:avLst/>
          </a:prstGeom>
          <a:noFill/>
          <a:ln/>
        </p:spPr>
        <p:txBody>
          <a:bodyPr wrap="none" lIns="0" tIns="0" rIns="0" bIns="0" rtlCol="0" anchor="t"/>
          <a:lstStyle/>
          <a:p>
            <a:pPr marL="0" indent="0" algn="l">
              <a:lnSpc>
                <a:spcPts val="2250"/>
              </a:lnSpc>
              <a:buNone/>
            </a:pPr>
            <a:r>
              <a:rPr lang="en-US" sz="1800" dirty="0">
                <a:solidFill>
                  <a:srgbClr val="6F655D"/>
                </a:solidFill>
                <a:latin typeface="Playfair Display Semi Bold" pitchFamily="34" charset="0"/>
                <a:ea typeface="Playfair Display Semi Bold" pitchFamily="34" charset="-122"/>
                <a:cs typeface="Playfair Display Semi Bold" pitchFamily="34" charset="-120"/>
              </a:rPr>
              <a:t>Missing Value Handling</a:t>
            </a:r>
            <a:endParaRPr lang="en-US" sz="1800" dirty="0"/>
          </a:p>
        </p:txBody>
      </p:sp>
      <p:sp>
        <p:nvSpPr>
          <p:cNvPr id="10" name="Text 8"/>
          <p:cNvSpPr/>
          <p:nvPr/>
        </p:nvSpPr>
        <p:spPr>
          <a:xfrm>
            <a:off x="5183029" y="2328624"/>
            <a:ext cx="4264343" cy="576739"/>
          </a:xfrm>
          <a:prstGeom prst="rect">
            <a:avLst/>
          </a:prstGeom>
          <a:noFill/>
          <a:ln/>
        </p:spPr>
        <p:txBody>
          <a:bodyPr wrap="square" lIns="0" tIns="0" rIns="0" bIns="0" rtlCol="0" anchor="t"/>
          <a:lstStyle/>
          <a:p>
            <a:pPr marL="0" indent="0" algn="l">
              <a:lnSpc>
                <a:spcPts val="2250"/>
              </a:lnSpc>
              <a:buNone/>
            </a:pPr>
            <a:r>
              <a:rPr lang="en-US" sz="1450" dirty="0">
                <a:solidFill>
                  <a:srgbClr val="6F655D"/>
                </a:solidFill>
                <a:latin typeface="Public Sans" pitchFamily="34" charset="0"/>
                <a:ea typeface="Public Sans" pitchFamily="34" charset="-122"/>
                <a:cs typeface="Public Sans" pitchFamily="34" charset="-120"/>
              </a:rPr>
              <a:t>Mean imputation replaces missing entries with average values of respective columns</a:t>
            </a:r>
            <a:endParaRPr lang="en-US" sz="1450" dirty="0"/>
          </a:p>
        </p:txBody>
      </p:sp>
      <p:sp>
        <p:nvSpPr>
          <p:cNvPr id="11" name="Text 9"/>
          <p:cNvSpPr/>
          <p:nvPr/>
        </p:nvSpPr>
        <p:spPr>
          <a:xfrm>
            <a:off x="9621798" y="1501378"/>
            <a:ext cx="372070" cy="232529"/>
          </a:xfrm>
          <a:prstGeom prst="rect">
            <a:avLst/>
          </a:prstGeom>
          <a:noFill/>
          <a:ln/>
        </p:spPr>
        <p:txBody>
          <a:bodyPr wrap="none" lIns="0" tIns="0" rIns="0" bIns="0" rtlCol="0" anchor="t"/>
          <a:lstStyle/>
          <a:p>
            <a:pPr marL="0" indent="0" algn="l">
              <a:lnSpc>
                <a:spcPts val="2250"/>
              </a:lnSpc>
              <a:buNone/>
            </a:pPr>
            <a:r>
              <a:rPr lang="en-US" sz="1450" dirty="0">
                <a:solidFill>
                  <a:srgbClr val="6F655D"/>
                </a:solidFill>
                <a:latin typeface="Playfair Display Light" pitchFamily="34" charset="0"/>
                <a:ea typeface="Playfair Display Light" pitchFamily="34" charset="-122"/>
                <a:cs typeface="Playfair Display Light" pitchFamily="34" charset="-120"/>
              </a:rPr>
              <a:t>03</a:t>
            </a:r>
            <a:endParaRPr lang="en-US" sz="1450" dirty="0"/>
          </a:p>
        </p:txBody>
      </p:sp>
      <p:sp>
        <p:nvSpPr>
          <p:cNvPr id="12" name="Shape 10"/>
          <p:cNvSpPr/>
          <p:nvPr/>
        </p:nvSpPr>
        <p:spPr>
          <a:xfrm>
            <a:off x="9621798" y="1794629"/>
            <a:ext cx="4264343" cy="22860"/>
          </a:xfrm>
          <a:prstGeom prst="rect">
            <a:avLst/>
          </a:prstGeom>
          <a:solidFill>
            <a:srgbClr val="B4DAE4"/>
          </a:solidFill>
          <a:ln/>
        </p:spPr>
      </p:sp>
      <p:sp>
        <p:nvSpPr>
          <p:cNvPr id="13" name="Text 11"/>
          <p:cNvSpPr/>
          <p:nvPr/>
        </p:nvSpPr>
        <p:spPr>
          <a:xfrm>
            <a:off x="9621798" y="1933337"/>
            <a:ext cx="2956441" cy="290632"/>
          </a:xfrm>
          <a:prstGeom prst="rect">
            <a:avLst/>
          </a:prstGeom>
          <a:noFill/>
          <a:ln/>
        </p:spPr>
        <p:txBody>
          <a:bodyPr wrap="none" lIns="0" tIns="0" rIns="0" bIns="0" rtlCol="0" anchor="t"/>
          <a:lstStyle/>
          <a:p>
            <a:pPr marL="0" indent="0" algn="l">
              <a:lnSpc>
                <a:spcPts val="2250"/>
              </a:lnSpc>
              <a:buNone/>
            </a:pPr>
            <a:r>
              <a:rPr lang="en-US" sz="1800" dirty="0">
                <a:solidFill>
                  <a:srgbClr val="6F655D"/>
                </a:solidFill>
                <a:latin typeface="Playfair Display Semi Bold" pitchFamily="34" charset="0"/>
                <a:ea typeface="Playfair Display Semi Bold" pitchFamily="34" charset="-122"/>
                <a:cs typeface="Playfair Display Semi Bold" pitchFamily="34" charset="-120"/>
              </a:rPr>
              <a:t>Categorical Transformation</a:t>
            </a:r>
            <a:endParaRPr lang="en-US" sz="1800" dirty="0"/>
          </a:p>
        </p:txBody>
      </p:sp>
      <p:sp>
        <p:nvSpPr>
          <p:cNvPr id="14" name="Text 12"/>
          <p:cNvSpPr/>
          <p:nvPr/>
        </p:nvSpPr>
        <p:spPr>
          <a:xfrm>
            <a:off x="9621798" y="2328624"/>
            <a:ext cx="4264343" cy="576739"/>
          </a:xfrm>
          <a:prstGeom prst="rect">
            <a:avLst/>
          </a:prstGeom>
          <a:noFill/>
          <a:ln/>
        </p:spPr>
        <p:txBody>
          <a:bodyPr wrap="square" lIns="0" tIns="0" rIns="0" bIns="0" rtlCol="0" anchor="t"/>
          <a:lstStyle/>
          <a:p>
            <a:pPr marL="0" indent="0" algn="l">
              <a:lnSpc>
                <a:spcPts val="2250"/>
              </a:lnSpc>
              <a:buNone/>
            </a:pPr>
            <a:r>
              <a:rPr lang="en-US" sz="1450" dirty="0">
                <a:solidFill>
                  <a:srgbClr val="6F655D"/>
                </a:solidFill>
                <a:latin typeface="Public Sans" pitchFamily="34" charset="0"/>
                <a:ea typeface="Public Sans" pitchFamily="34" charset="-122"/>
                <a:cs typeface="Public Sans" pitchFamily="34" charset="-120"/>
              </a:rPr>
              <a:t>StringIndexer converts gender, region, and programme type into numerical form</a:t>
            </a:r>
            <a:endParaRPr lang="en-US" sz="1450" dirty="0"/>
          </a:p>
        </p:txBody>
      </p:sp>
      <p:sp>
        <p:nvSpPr>
          <p:cNvPr id="15" name="Text 13"/>
          <p:cNvSpPr/>
          <p:nvPr/>
        </p:nvSpPr>
        <p:spPr>
          <a:xfrm>
            <a:off x="744260" y="3507700"/>
            <a:ext cx="372070" cy="232529"/>
          </a:xfrm>
          <a:prstGeom prst="rect">
            <a:avLst/>
          </a:prstGeom>
          <a:noFill/>
          <a:ln/>
        </p:spPr>
        <p:txBody>
          <a:bodyPr wrap="none" lIns="0" tIns="0" rIns="0" bIns="0" rtlCol="0" anchor="t"/>
          <a:lstStyle/>
          <a:p>
            <a:pPr marL="0" indent="0" algn="l">
              <a:lnSpc>
                <a:spcPts val="2250"/>
              </a:lnSpc>
              <a:buNone/>
            </a:pPr>
            <a:r>
              <a:rPr lang="en-US" sz="1450" dirty="0">
                <a:solidFill>
                  <a:srgbClr val="6F655D"/>
                </a:solidFill>
                <a:latin typeface="Playfair Display Light" pitchFamily="34" charset="0"/>
                <a:ea typeface="Playfair Display Light" pitchFamily="34" charset="-122"/>
                <a:cs typeface="Playfair Display Light" pitchFamily="34" charset="-120"/>
              </a:rPr>
              <a:t>04</a:t>
            </a:r>
            <a:endParaRPr lang="en-US" sz="1450" dirty="0"/>
          </a:p>
        </p:txBody>
      </p:sp>
      <p:sp>
        <p:nvSpPr>
          <p:cNvPr id="16" name="Shape 14"/>
          <p:cNvSpPr/>
          <p:nvPr/>
        </p:nvSpPr>
        <p:spPr>
          <a:xfrm>
            <a:off x="744260" y="3800951"/>
            <a:ext cx="6483668" cy="22860"/>
          </a:xfrm>
          <a:prstGeom prst="rect">
            <a:avLst/>
          </a:prstGeom>
          <a:solidFill>
            <a:srgbClr val="E1C2C2"/>
          </a:solidFill>
          <a:ln/>
        </p:spPr>
      </p:sp>
      <p:sp>
        <p:nvSpPr>
          <p:cNvPr id="17" name="Text 15"/>
          <p:cNvSpPr/>
          <p:nvPr/>
        </p:nvSpPr>
        <p:spPr>
          <a:xfrm>
            <a:off x="744260" y="3939659"/>
            <a:ext cx="2596991" cy="290632"/>
          </a:xfrm>
          <a:prstGeom prst="rect">
            <a:avLst/>
          </a:prstGeom>
          <a:noFill/>
          <a:ln/>
        </p:spPr>
        <p:txBody>
          <a:bodyPr wrap="none" lIns="0" tIns="0" rIns="0" bIns="0" rtlCol="0" anchor="t"/>
          <a:lstStyle/>
          <a:p>
            <a:pPr marL="0" indent="0" algn="l">
              <a:lnSpc>
                <a:spcPts val="2250"/>
              </a:lnSpc>
              <a:buNone/>
            </a:pPr>
            <a:r>
              <a:rPr lang="en-US" sz="1800" dirty="0">
                <a:solidFill>
                  <a:srgbClr val="6F655D"/>
                </a:solidFill>
                <a:latin typeface="Playfair Display Semi Bold" pitchFamily="34" charset="0"/>
                <a:ea typeface="Playfair Display Semi Bold" pitchFamily="34" charset="-122"/>
                <a:cs typeface="Playfair Display Semi Bold" pitchFamily="34" charset="-120"/>
              </a:rPr>
              <a:t>Feature Vector Assembly</a:t>
            </a:r>
            <a:endParaRPr lang="en-US" sz="1800" dirty="0"/>
          </a:p>
        </p:txBody>
      </p:sp>
      <p:sp>
        <p:nvSpPr>
          <p:cNvPr id="18" name="Text 16"/>
          <p:cNvSpPr/>
          <p:nvPr/>
        </p:nvSpPr>
        <p:spPr>
          <a:xfrm>
            <a:off x="744260" y="4334947"/>
            <a:ext cx="6483668" cy="576739"/>
          </a:xfrm>
          <a:prstGeom prst="rect">
            <a:avLst/>
          </a:prstGeom>
          <a:noFill/>
          <a:ln/>
        </p:spPr>
        <p:txBody>
          <a:bodyPr wrap="square" lIns="0" tIns="0" rIns="0" bIns="0" rtlCol="0" anchor="t"/>
          <a:lstStyle/>
          <a:p>
            <a:pPr marL="0" indent="0" algn="l">
              <a:lnSpc>
                <a:spcPts val="2250"/>
              </a:lnSpc>
              <a:buNone/>
            </a:pPr>
            <a:r>
              <a:rPr lang="en-US" sz="1450" dirty="0">
                <a:solidFill>
                  <a:srgbClr val="6F655D"/>
                </a:solidFill>
                <a:latin typeface="Public Sans" pitchFamily="34" charset="0"/>
                <a:ea typeface="Public Sans" pitchFamily="34" charset="-122"/>
                <a:cs typeface="Public Sans" pitchFamily="34" charset="-120"/>
              </a:rPr>
              <a:t>VectorAssembler combines transformed features into a single feature vector</a:t>
            </a:r>
            <a:endParaRPr lang="en-US" sz="1450" dirty="0"/>
          </a:p>
        </p:txBody>
      </p:sp>
      <p:sp>
        <p:nvSpPr>
          <p:cNvPr id="19" name="Text 17"/>
          <p:cNvSpPr/>
          <p:nvPr/>
        </p:nvSpPr>
        <p:spPr>
          <a:xfrm>
            <a:off x="7402354" y="3507700"/>
            <a:ext cx="372070" cy="232529"/>
          </a:xfrm>
          <a:prstGeom prst="rect">
            <a:avLst/>
          </a:prstGeom>
          <a:noFill/>
          <a:ln/>
        </p:spPr>
        <p:txBody>
          <a:bodyPr wrap="none" lIns="0" tIns="0" rIns="0" bIns="0" rtlCol="0" anchor="t"/>
          <a:lstStyle/>
          <a:p>
            <a:pPr marL="0" indent="0" algn="l">
              <a:lnSpc>
                <a:spcPts val="2250"/>
              </a:lnSpc>
              <a:buNone/>
            </a:pPr>
            <a:r>
              <a:rPr lang="en-US" sz="1450" dirty="0">
                <a:solidFill>
                  <a:srgbClr val="6F655D"/>
                </a:solidFill>
                <a:latin typeface="Playfair Display Light" pitchFamily="34" charset="0"/>
                <a:ea typeface="Playfair Display Light" pitchFamily="34" charset="-122"/>
                <a:cs typeface="Playfair Display Light" pitchFamily="34" charset="-120"/>
              </a:rPr>
              <a:t>05</a:t>
            </a:r>
            <a:endParaRPr lang="en-US" sz="1450" dirty="0"/>
          </a:p>
        </p:txBody>
      </p:sp>
      <p:sp>
        <p:nvSpPr>
          <p:cNvPr id="20" name="Shape 18"/>
          <p:cNvSpPr/>
          <p:nvPr/>
        </p:nvSpPr>
        <p:spPr>
          <a:xfrm>
            <a:off x="7402354" y="3800951"/>
            <a:ext cx="6483787" cy="22860"/>
          </a:xfrm>
          <a:prstGeom prst="rect">
            <a:avLst/>
          </a:prstGeom>
          <a:solidFill>
            <a:srgbClr val="CCC4EC"/>
          </a:solidFill>
          <a:ln/>
        </p:spPr>
      </p:sp>
      <p:sp>
        <p:nvSpPr>
          <p:cNvPr id="21" name="Text 19"/>
          <p:cNvSpPr/>
          <p:nvPr/>
        </p:nvSpPr>
        <p:spPr>
          <a:xfrm>
            <a:off x="7402354" y="3939659"/>
            <a:ext cx="2325767" cy="290632"/>
          </a:xfrm>
          <a:prstGeom prst="rect">
            <a:avLst/>
          </a:prstGeom>
          <a:noFill/>
          <a:ln/>
        </p:spPr>
        <p:txBody>
          <a:bodyPr wrap="none" lIns="0" tIns="0" rIns="0" bIns="0" rtlCol="0" anchor="t"/>
          <a:lstStyle/>
          <a:p>
            <a:pPr marL="0" indent="0" algn="l">
              <a:lnSpc>
                <a:spcPts val="2250"/>
              </a:lnSpc>
              <a:buNone/>
            </a:pPr>
            <a:r>
              <a:rPr lang="en-US" sz="1800" dirty="0">
                <a:solidFill>
                  <a:srgbClr val="6F655D"/>
                </a:solidFill>
                <a:latin typeface="Playfair Display Semi Bold" pitchFamily="34" charset="0"/>
                <a:ea typeface="Playfair Display Semi Bold" pitchFamily="34" charset="-122"/>
                <a:cs typeface="Playfair Display Semi Bold" pitchFamily="34" charset="-120"/>
              </a:rPr>
              <a:t>Data Splitting</a:t>
            </a:r>
            <a:endParaRPr lang="en-US" sz="1800" dirty="0"/>
          </a:p>
        </p:txBody>
      </p:sp>
      <p:sp>
        <p:nvSpPr>
          <p:cNvPr id="22" name="Text 20"/>
          <p:cNvSpPr/>
          <p:nvPr/>
        </p:nvSpPr>
        <p:spPr>
          <a:xfrm>
            <a:off x="7402354" y="4334947"/>
            <a:ext cx="6483787" cy="288369"/>
          </a:xfrm>
          <a:prstGeom prst="rect">
            <a:avLst/>
          </a:prstGeom>
          <a:noFill/>
          <a:ln/>
        </p:spPr>
        <p:txBody>
          <a:bodyPr wrap="none" lIns="0" tIns="0" rIns="0" bIns="0" rtlCol="0" anchor="t"/>
          <a:lstStyle/>
          <a:p>
            <a:pPr marL="0" indent="0" algn="l">
              <a:lnSpc>
                <a:spcPts val="2250"/>
              </a:lnSpc>
              <a:buNone/>
            </a:pPr>
            <a:r>
              <a:rPr lang="en-US" sz="1450" dirty="0">
                <a:solidFill>
                  <a:srgbClr val="6F655D"/>
                </a:solidFill>
                <a:latin typeface="Public Sans" pitchFamily="34" charset="0"/>
                <a:ea typeface="Public Sans" pitchFamily="34" charset="-122"/>
                <a:cs typeface="Public Sans" pitchFamily="34" charset="-120"/>
              </a:rPr>
              <a:t>80:20 ratio for training and testing subsets using random split with seed</a:t>
            </a:r>
            <a:endParaRPr lang="en-US" sz="1450" dirty="0"/>
          </a:p>
        </p:txBody>
      </p:sp>
      <p:sp>
        <p:nvSpPr>
          <p:cNvPr id="23" name="Text 21"/>
          <p:cNvSpPr/>
          <p:nvPr/>
        </p:nvSpPr>
        <p:spPr>
          <a:xfrm>
            <a:off x="744260" y="5247442"/>
            <a:ext cx="13141881" cy="576739"/>
          </a:xfrm>
          <a:prstGeom prst="rect">
            <a:avLst/>
          </a:prstGeom>
          <a:noFill/>
          <a:ln/>
        </p:spPr>
        <p:txBody>
          <a:bodyPr wrap="square" lIns="0" tIns="0" rIns="0" bIns="0" rtlCol="0" anchor="t"/>
          <a:lstStyle/>
          <a:p>
            <a:pPr marL="0" indent="0" algn="l">
              <a:lnSpc>
                <a:spcPts val="2250"/>
              </a:lnSpc>
              <a:buNone/>
            </a:pPr>
            <a:r>
              <a:rPr lang="en-US" sz="1450" dirty="0">
                <a:solidFill>
                  <a:srgbClr val="6F655D"/>
                </a:solidFill>
                <a:latin typeface="Public Sans" pitchFamily="34" charset="0"/>
                <a:ea typeface="Public Sans" pitchFamily="34" charset="-122"/>
                <a:cs typeface="Public Sans" pitchFamily="34" charset="-120"/>
              </a:rPr>
              <a:t>The dataset used in this project is a synthetic representation of student records. It includes both numerical and categorical variables. Missing values in attendance and grades are handled using mean imputation, which replaces missing entries with the average value of the respective column.</a:t>
            </a:r>
            <a:endParaRPr lang="en-US" sz="1450" dirty="0"/>
          </a:p>
        </p:txBody>
      </p:sp>
      <p:sp>
        <p:nvSpPr>
          <p:cNvPr id="24" name="Text 22"/>
          <p:cNvSpPr/>
          <p:nvPr/>
        </p:nvSpPr>
        <p:spPr>
          <a:xfrm>
            <a:off x="744260" y="6020395"/>
            <a:ext cx="13141881" cy="865108"/>
          </a:xfrm>
          <a:prstGeom prst="rect">
            <a:avLst/>
          </a:prstGeom>
          <a:noFill/>
          <a:ln/>
        </p:spPr>
        <p:txBody>
          <a:bodyPr wrap="square" lIns="0" tIns="0" rIns="0" bIns="0" rtlCol="0" anchor="t"/>
          <a:lstStyle/>
          <a:p>
            <a:pPr marL="0" indent="0" algn="l">
              <a:lnSpc>
                <a:spcPts val="2250"/>
              </a:lnSpc>
              <a:buNone/>
            </a:pPr>
            <a:r>
              <a:rPr lang="en-US" sz="1450" dirty="0">
                <a:solidFill>
                  <a:srgbClr val="6F655D"/>
                </a:solidFill>
                <a:latin typeface="Public Sans" pitchFamily="34" charset="0"/>
                <a:ea typeface="Public Sans" pitchFamily="34" charset="-122"/>
                <a:cs typeface="Public Sans" pitchFamily="34" charset="-120"/>
              </a:rPr>
              <a:t>Categorical variables such as gender, region, and programme type are converted into numerical form using StringIndexer. This transformation is necessary because machine learning algorithms require numerical input. The transformed features are then combined into a single feature vector using VectorAssembler.</a:t>
            </a:r>
            <a:endParaRPr lang="en-US" sz="1450" dirty="0"/>
          </a:p>
        </p:txBody>
      </p:sp>
      <p:sp>
        <p:nvSpPr>
          <p:cNvPr id="25" name="Text 23"/>
          <p:cNvSpPr/>
          <p:nvPr/>
        </p:nvSpPr>
        <p:spPr>
          <a:xfrm>
            <a:off x="744260" y="7081718"/>
            <a:ext cx="13141881" cy="576739"/>
          </a:xfrm>
          <a:prstGeom prst="rect">
            <a:avLst/>
          </a:prstGeom>
          <a:noFill/>
          <a:ln/>
        </p:spPr>
        <p:txBody>
          <a:bodyPr wrap="square" lIns="0" tIns="0" rIns="0" bIns="0" rtlCol="0" anchor="t"/>
          <a:lstStyle/>
          <a:p>
            <a:pPr marL="0" indent="0" algn="l">
              <a:lnSpc>
                <a:spcPts val="2250"/>
              </a:lnSpc>
              <a:buNone/>
            </a:pPr>
            <a:r>
              <a:rPr lang="en-US" sz="1450" dirty="0">
                <a:solidFill>
                  <a:srgbClr val="6F655D"/>
                </a:solidFill>
                <a:latin typeface="Public Sans" pitchFamily="34" charset="0"/>
                <a:ea typeface="Public Sans" pitchFamily="34" charset="-122"/>
                <a:cs typeface="Public Sans" pitchFamily="34" charset="-120"/>
              </a:rPr>
              <a:t>The dataset is split into training and testing subsets using a ratio of 80:20. This allows the model to learn patterns from the training data and be evaluated on unseen test data.</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69025" y="593169"/>
            <a:ext cx="8268772" cy="600789"/>
          </a:xfrm>
          <a:prstGeom prst="rect">
            <a:avLst/>
          </a:prstGeom>
          <a:noFill/>
          <a:ln/>
        </p:spPr>
        <p:txBody>
          <a:bodyPr wrap="none" lIns="0" tIns="0" rIns="0" bIns="0" rtlCol="0" anchor="t"/>
          <a:lstStyle/>
          <a:p>
            <a:pPr marL="0" indent="0" algn="l">
              <a:lnSpc>
                <a:spcPts val="4700"/>
              </a:lnSpc>
              <a:buNone/>
            </a:pPr>
            <a:r>
              <a:rPr lang="en-US" sz="3750" dirty="0">
                <a:solidFill>
                  <a:srgbClr val="4B6981"/>
                </a:solidFill>
                <a:latin typeface="Playfair Display Semi Bold" pitchFamily="34" charset="0"/>
                <a:ea typeface="Playfair Display Semi Bold" pitchFamily="34" charset="-122"/>
                <a:cs typeface="Playfair Display Semi Bold" pitchFamily="34" charset="-120"/>
              </a:rPr>
              <a:t>Implementation: PySpark Framework</a:t>
            </a:r>
            <a:endParaRPr lang="en-US" sz="3750" dirty="0"/>
          </a:p>
        </p:txBody>
      </p:sp>
      <p:sp>
        <p:nvSpPr>
          <p:cNvPr id="3" name="Text 1"/>
          <p:cNvSpPr/>
          <p:nvPr/>
        </p:nvSpPr>
        <p:spPr>
          <a:xfrm>
            <a:off x="769025" y="1659493"/>
            <a:ext cx="2403396" cy="300395"/>
          </a:xfrm>
          <a:prstGeom prst="rect">
            <a:avLst/>
          </a:prstGeom>
          <a:noFill/>
          <a:ln/>
        </p:spPr>
        <p:txBody>
          <a:bodyPr wrap="none" lIns="0" tIns="0" rIns="0" bIns="0" rtlCol="0" anchor="t"/>
          <a:lstStyle/>
          <a:p>
            <a:pPr marL="0" indent="0" algn="l">
              <a:lnSpc>
                <a:spcPts val="2350"/>
              </a:lnSpc>
              <a:buNone/>
            </a:pPr>
            <a:r>
              <a:rPr lang="en-US" sz="1850" dirty="0">
                <a:solidFill>
                  <a:srgbClr val="4B6981"/>
                </a:solidFill>
                <a:latin typeface="Playfair Display Semi Bold" pitchFamily="34" charset="0"/>
                <a:ea typeface="Playfair Display Semi Bold" pitchFamily="34" charset="-122"/>
                <a:cs typeface="Playfair Display Semi Bold" pitchFamily="34" charset="-120"/>
              </a:rPr>
              <a:t>Technical Stack</a:t>
            </a:r>
            <a:endParaRPr lang="en-US" sz="1850" dirty="0"/>
          </a:p>
        </p:txBody>
      </p:sp>
      <p:sp>
        <p:nvSpPr>
          <p:cNvPr id="4" name="Text 2"/>
          <p:cNvSpPr/>
          <p:nvPr/>
        </p:nvSpPr>
        <p:spPr>
          <a:xfrm>
            <a:off x="769025" y="2146102"/>
            <a:ext cx="7667744" cy="908328"/>
          </a:xfrm>
          <a:prstGeom prst="rect">
            <a:avLst/>
          </a:prstGeom>
          <a:noFill/>
          <a:ln/>
        </p:spPr>
        <p:txBody>
          <a:bodyPr wrap="square" lIns="0" tIns="0" rIns="0" bIns="0" rtlCol="0" anchor="t"/>
          <a:lstStyle/>
          <a:p>
            <a:pPr marL="0" indent="0" algn="l">
              <a:lnSpc>
                <a:spcPts val="2350"/>
              </a:lnSpc>
              <a:buNone/>
            </a:pPr>
            <a:r>
              <a:rPr lang="en-US" sz="1500" dirty="0">
                <a:solidFill>
                  <a:srgbClr val="6F655D"/>
                </a:solidFill>
                <a:latin typeface="Public Sans" pitchFamily="34" charset="0"/>
                <a:ea typeface="Public Sans" pitchFamily="34" charset="-122"/>
                <a:cs typeface="Public Sans" pitchFamily="34" charset="-120"/>
              </a:rPr>
              <a:t>The implementation of this project is carried out using PySpark, a powerful framework for big data processing and machine learning. The SparkSession is initialised with configurations that ensure compatibility with the Windows environment.</a:t>
            </a:r>
            <a:endParaRPr lang="en-US" sz="1500" dirty="0"/>
          </a:p>
        </p:txBody>
      </p:sp>
      <p:sp>
        <p:nvSpPr>
          <p:cNvPr id="5" name="Text 3"/>
          <p:cNvSpPr/>
          <p:nvPr/>
        </p:nvSpPr>
        <p:spPr>
          <a:xfrm>
            <a:off x="769025" y="3221950"/>
            <a:ext cx="7667744" cy="908328"/>
          </a:xfrm>
          <a:prstGeom prst="rect">
            <a:avLst/>
          </a:prstGeom>
          <a:noFill/>
          <a:ln/>
        </p:spPr>
        <p:txBody>
          <a:bodyPr wrap="square" lIns="0" tIns="0" rIns="0" bIns="0" rtlCol="0" anchor="t"/>
          <a:lstStyle/>
          <a:p>
            <a:pPr marL="0" indent="0" algn="l">
              <a:lnSpc>
                <a:spcPts val="2350"/>
              </a:lnSpc>
              <a:buNone/>
            </a:pPr>
            <a:r>
              <a:rPr lang="en-US" sz="1500" dirty="0">
                <a:solidFill>
                  <a:srgbClr val="6F655D"/>
                </a:solidFill>
                <a:latin typeface="Public Sans" pitchFamily="34" charset="0"/>
                <a:ea typeface="Public Sans" pitchFamily="34" charset="-122"/>
                <a:cs typeface="Public Sans" pitchFamily="34" charset="-120"/>
              </a:rPr>
              <a:t>The dataset is created within the script as a list of tuples and then converted into a Spark DataFrame. Data cleaning is performed by calculating the average attendance and grade values and replacing missing entries.</a:t>
            </a:r>
            <a:endParaRPr lang="en-US" sz="1500" dirty="0"/>
          </a:p>
        </p:txBody>
      </p:sp>
      <p:sp>
        <p:nvSpPr>
          <p:cNvPr id="6" name="Text 4"/>
          <p:cNvSpPr/>
          <p:nvPr/>
        </p:nvSpPr>
        <p:spPr>
          <a:xfrm>
            <a:off x="769025" y="4297799"/>
            <a:ext cx="7667744" cy="908328"/>
          </a:xfrm>
          <a:prstGeom prst="rect">
            <a:avLst/>
          </a:prstGeom>
          <a:noFill/>
          <a:ln/>
        </p:spPr>
        <p:txBody>
          <a:bodyPr wrap="square" lIns="0" tIns="0" rIns="0" bIns="0" rtlCol="0" anchor="t"/>
          <a:lstStyle/>
          <a:p>
            <a:pPr marL="0" indent="0" algn="l">
              <a:lnSpc>
                <a:spcPts val="2350"/>
              </a:lnSpc>
              <a:buNone/>
            </a:pPr>
            <a:r>
              <a:rPr lang="en-US" sz="1500" dirty="0">
                <a:solidFill>
                  <a:srgbClr val="6F655D"/>
                </a:solidFill>
                <a:latin typeface="Public Sans" pitchFamily="34" charset="0"/>
                <a:ea typeface="Public Sans" pitchFamily="34" charset="-122"/>
                <a:cs typeface="Public Sans" pitchFamily="34" charset="-120"/>
              </a:rPr>
              <a:t>Feature transformation is achieved using StringIndexer for categorical variables and VectorAssembler for combining features into a single vector. The processed dataset is then split into training and testing sets.</a:t>
            </a:r>
            <a:endParaRPr lang="en-US" sz="1500" dirty="0"/>
          </a:p>
        </p:txBody>
      </p:sp>
      <p:sp>
        <p:nvSpPr>
          <p:cNvPr id="7" name="Text 5"/>
          <p:cNvSpPr/>
          <p:nvPr/>
        </p:nvSpPr>
        <p:spPr>
          <a:xfrm>
            <a:off x="8913495" y="1659493"/>
            <a:ext cx="2403396" cy="300395"/>
          </a:xfrm>
          <a:prstGeom prst="rect">
            <a:avLst/>
          </a:prstGeom>
          <a:noFill/>
          <a:ln/>
        </p:spPr>
        <p:txBody>
          <a:bodyPr wrap="none" lIns="0" tIns="0" rIns="0" bIns="0" rtlCol="0" anchor="t"/>
          <a:lstStyle/>
          <a:p>
            <a:pPr marL="0" indent="0" algn="l">
              <a:lnSpc>
                <a:spcPts val="2350"/>
              </a:lnSpc>
              <a:buNone/>
            </a:pPr>
            <a:r>
              <a:rPr lang="en-US" sz="1850" dirty="0">
                <a:solidFill>
                  <a:srgbClr val="4B6981"/>
                </a:solidFill>
                <a:latin typeface="Playfair Display Semi Bold" pitchFamily="34" charset="0"/>
                <a:ea typeface="Playfair Display Semi Bold" pitchFamily="34" charset="-122"/>
                <a:cs typeface="Playfair Display Semi Bold" pitchFamily="34" charset="-120"/>
              </a:rPr>
              <a:t>Key Components</a:t>
            </a:r>
            <a:endParaRPr lang="en-US" sz="1850" dirty="0"/>
          </a:p>
        </p:txBody>
      </p:sp>
      <p:sp>
        <p:nvSpPr>
          <p:cNvPr id="8" name="Text 6"/>
          <p:cNvSpPr/>
          <p:nvPr/>
        </p:nvSpPr>
        <p:spPr>
          <a:xfrm>
            <a:off x="8913495" y="2146102"/>
            <a:ext cx="4955381" cy="2510195"/>
          </a:xfrm>
          <a:prstGeom prst="rect">
            <a:avLst/>
          </a:prstGeom>
          <a:noFill/>
          <a:ln/>
        </p:spPr>
        <p:txBody>
          <a:bodyPr wrap="square" lIns="0" tIns="0" rIns="0" bIns="0" rtlCol="0" anchor="t"/>
          <a:lstStyle/>
          <a:p>
            <a:pPr marL="342900" indent="-342900" algn="l">
              <a:lnSpc>
                <a:spcPts val="2350"/>
              </a:lnSpc>
              <a:buSzPct val="100000"/>
              <a:buChar char="•"/>
            </a:pPr>
            <a:r>
              <a:rPr lang="en-US" sz="1500" dirty="0">
                <a:solidFill>
                  <a:srgbClr val="6F655D"/>
                </a:solidFill>
                <a:latin typeface="Public Sans" pitchFamily="34" charset="0"/>
                <a:ea typeface="Public Sans" pitchFamily="34" charset="-122"/>
                <a:cs typeface="Public Sans" pitchFamily="34" charset="-120"/>
              </a:rPr>
              <a:t>SparkSession initialisation</a:t>
            </a:r>
            <a:endParaRPr lang="en-US" sz="1500" dirty="0"/>
          </a:p>
          <a:p>
            <a:pPr marL="342900" indent="-342900" algn="l">
              <a:lnSpc>
                <a:spcPts val="2350"/>
              </a:lnSpc>
              <a:buSzPct val="100000"/>
              <a:buChar char="•"/>
            </a:pPr>
            <a:r>
              <a:rPr lang="en-US" sz="1500" dirty="0">
                <a:solidFill>
                  <a:srgbClr val="6F655D"/>
                </a:solidFill>
                <a:latin typeface="Public Sans" pitchFamily="34" charset="0"/>
                <a:ea typeface="Public Sans" pitchFamily="34" charset="-122"/>
                <a:cs typeface="Public Sans" pitchFamily="34" charset="-120"/>
              </a:rPr>
              <a:t>DataFrame creation</a:t>
            </a:r>
            <a:endParaRPr lang="en-US" sz="1500" dirty="0"/>
          </a:p>
          <a:p>
            <a:pPr marL="342900" indent="-342900" algn="l">
              <a:lnSpc>
                <a:spcPts val="2350"/>
              </a:lnSpc>
              <a:buSzPct val="100000"/>
              <a:buChar char="•"/>
            </a:pPr>
            <a:r>
              <a:rPr lang="en-US" sz="1500" dirty="0">
                <a:solidFill>
                  <a:srgbClr val="6F655D"/>
                </a:solidFill>
                <a:latin typeface="Public Sans" pitchFamily="34" charset="0"/>
                <a:ea typeface="Public Sans" pitchFamily="34" charset="-122"/>
                <a:cs typeface="Public Sans" pitchFamily="34" charset="-120"/>
              </a:rPr>
              <a:t>StringIndexer transformation</a:t>
            </a:r>
            <a:endParaRPr lang="en-US" sz="1500" dirty="0"/>
          </a:p>
          <a:p>
            <a:pPr marL="342900" indent="-342900" algn="l">
              <a:lnSpc>
                <a:spcPts val="2350"/>
              </a:lnSpc>
              <a:buSzPct val="100000"/>
              <a:buChar char="•"/>
            </a:pPr>
            <a:r>
              <a:rPr lang="en-US" sz="1500" dirty="0">
                <a:solidFill>
                  <a:srgbClr val="6F655D"/>
                </a:solidFill>
                <a:latin typeface="Public Sans" pitchFamily="34" charset="0"/>
                <a:ea typeface="Public Sans" pitchFamily="34" charset="-122"/>
                <a:cs typeface="Public Sans" pitchFamily="34" charset="-120"/>
              </a:rPr>
              <a:t>VectorAssembler integration</a:t>
            </a:r>
            <a:endParaRPr lang="en-US" sz="1500" dirty="0"/>
          </a:p>
          <a:p>
            <a:pPr marL="342900" indent="-342900" algn="l">
              <a:lnSpc>
                <a:spcPts val="2350"/>
              </a:lnSpc>
              <a:buSzPct val="100000"/>
              <a:buChar char="•"/>
            </a:pPr>
            <a:r>
              <a:rPr lang="en-US" sz="1500" dirty="0">
                <a:solidFill>
                  <a:srgbClr val="6F655D"/>
                </a:solidFill>
                <a:latin typeface="Public Sans" pitchFamily="34" charset="0"/>
                <a:ea typeface="Public Sans" pitchFamily="34" charset="-122"/>
                <a:cs typeface="Public Sans" pitchFamily="34" charset="-120"/>
              </a:rPr>
              <a:t>RandomForestClassifier training</a:t>
            </a:r>
            <a:endParaRPr lang="en-US" sz="1500" dirty="0"/>
          </a:p>
          <a:p>
            <a:pPr marL="342900" indent="-342900" algn="l">
              <a:lnSpc>
                <a:spcPts val="2350"/>
              </a:lnSpc>
              <a:buSzPct val="100000"/>
              <a:buChar char="•"/>
            </a:pPr>
            <a:r>
              <a:rPr lang="en-US" sz="1500" dirty="0">
                <a:solidFill>
                  <a:srgbClr val="6F655D"/>
                </a:solidFill>
                <a:latin typeface="Public Sans" pitchFamily="34" charset="0"/>
                <a:ea typeface="Public Sans" pitchFamily="34" charset="-122"/>
                <a:cs typeface="Public Sans" pitchFamily="34" charset="-120"/>
              </a:rPr>
              <a:t>Model evaluation metrics</a:t>
            </a:r>
            <a:endParaRPr lang="en-US" sz="1500" dirty="0"/>
          </a:p>
          <a:p>
            <a:pPr marL="342900" indent="-342900" algn="l">
              <a:lnSpc>
                <a:spcPts val="2350"/>
              </a:lnSpc>
              <a:buSzPct val="100000"/>
              <a:buChar char="•"/>
            </a:pPr>
            <a:r>
              <a:rPr lang="en-US" sz="1500" dirty="0">
                <a:solidFill>
                  <a:srgbClr val="6F655D"/>
                </a:solidFill>
                <a:latin typeface="Public Sans" pitchFamily="34" charset="0"/>
                <a:ea typeface="Public Sans" pitchFamily="34" charset="-122"/>
                <a:cs typeface="Public Sans" pitchFamily="34" charset="-120"/>
              </a:rPr>
              <a:t>Matplotlib visualisation</a:t>
            </a:r>
            <a:endParaRPr lang="en-US" sz="1500" dirty="0"/>
          </a:p>
        </p:txBody>
      </p:sp>
      <p:sp>
        <p:nvSpPr>
          <p:cNvPr id="9" name="Shape 7"/>
          <p:cNvSpPr/>
          <p:nvPr/>
        </p:nvSpPr>
        <p:spPr>
          <a:xfrm>
            <a:off x="769025" y="5583079"/>
            <a:ext cx="4239935" cy="2053233"/>
          </a:xfrm>
          <a:prstGeom prst="roundRect">
            <a:avLst>
              <a:gd name="adj" fmla="val 5344"/>
            </a:avLst>
          </a:prstGeom>
          <a:solidFill>
            <a:srgbClr val="FFFAF6"/>
          </a:solidFill>
          <a:ln w="22860">
            <a:solidFill>
              <a:srgbClr val="E1C2C2"/>
            </a:solidFill>
            <a:prstDash val="solid"/>
          </a:ln>
          <a:effectLst>
            <a:outerShdw dist="25400" dir="2700000" algn="bl" rotWithShape="0">
              <a:srgbClr val="E1C2C2">
                <a:alpha val="100000"/>
              </a:srgbClr>
            </a:outerShdw>
          </a:effectLst>
        </p:spPr>
      </p:sp>
      <p:sp>
        <p:nvSpPr>
          <p:cNvPr id="10" name="Shape 8"/>
          <p:cNvSpPr/>
          <p:nvPr/>
        </p:nvSpPr>
        <p:spPr>
          <a:xfrm>
            <a:off x="746165" y="5583079"/>
            <a:ext cx="91440" cy="2053233"/>
          </a:xfrm>
          <a:prstGeom prst="roundRect">
            <a:avLst>
              <a:gd name="adj" fmla="val 88314"/>
            </a:avLst>
          </a:prstGeom>
          <a:solidFill>
            <a:srgbClr val="E1C2C2"/>
          </a:solidFill>
          <a:ln/>
        </p:spPr>
      </p:sp>
      <p:sp>
        <p:nvSpPr>
          <p:cNvPr id="11" name="Text 9"/>
          <p:cNvSpPr/>
          <p:nvPr/>
        </p:nvSpPr>
        <p:spPr>
          <a:xfrm>
            <a:off x="1052632" y="5798106"/>
            <a:ext cx="3141583" cy="300395"/>
          </a:xfrm>
          <a:prstGeom prst="rect">
            <a:avLst/>
          </a:prstGeom>
          <a:noFill/>
          <a:ln/>
        </p:spPr>
        <p:txBody>
          <a:bodyPr wrap="none" lIns="0" tIns="0" rIns="0" bIns="0" rtlCol="0" anchor="t"/>
          <a:lstStyle/>
          <a:p>
            <a:pPr marL="0" indent="0" algn="l">
              <a:lnSpc>
                <a:spcPts val="2350"/>
              </a:lnSpc>
              <a:buNone/>
            </a:pPr>
            <a:r>
              <a:rPr lang="en-US" sz="1850" dirty="0">
                <a:solidFill>
                  <a:srgbClr val="6F655D"/>
                </a:solidFill>
                <a:latin typeface="Playfair Display Semi Bold" pitchFamily="34" charset="0"/>
                <a:ea typeface="Playfair Display Semi Bold" pitchFamily="34" charset="-122"/>
                <a:cs typeface="Playfair Display Semi Bold" pitchFamily="34" charset="-120"/>
              </a:rPr>
              <a:t>Spark Session Configuration</a:t>
            </a:r>
            <a:endParaRPr lang="en-US" sz="1850" dirty="0"/>
          </a:p>
        </p:txBody>
      </p:sp>
      <p:sp>
        <p:nvSpPr>
          <p:cNvPr id="12" name="Text 10"/>
          <p:cNvSpPr/>
          <p:nvPr/>
        </p:nvSpPr>
        <p:spPr>
          <a:xfrm>
            <a:off x="1052632" y="6210181"/>
            <a:ext cx="3741301" cy="908328"/>
          </a:xfrm>
          <a:prstGeom prst="rect">
            <a:avLst/>
          </a:prstGeom>
          <a:noFill/>
          <a:ln/>
        </p:spPr>
        <p:txBody>
          <a:bodyPr wrap="square" lIns="0" tIns="0" rIns="0" bIns="0" rtlCol="0" anchor="t"/>
          <a:lstStyle/>
          <a:p>
            <a:pPr marL="0" indent="0" algn="l">
              <a:lnSpc>
                <a:spcPts val="2350"/>
              </a:lnSpc>
              <a:buNone/>
            </a:pPr>
            <a:r>
              <a:rPr lang="en-US" sz="1500" dirty="0">
                <a:solidFill>
                  <a:srgbClr val="6F655D"/>
                </a:solidFill>
                <a:latin typeface="Public Sans" pitchFamily="34" charset="0"/>
                <a:ea typeface="Public Sans" pitchFamily="34" charset="-122"/>
                <a:cs typeface="Public Sans" pitchFamily="34" charset="-120"/>
              </a:rPr>
              <a:t>Initialised with app name "University Dropout Prediction" and local master configuration for Windows compatibility</a:t>
            </a:r>
            <a:endParaRPr lang="en-US" sz="1500" dirty="0"/>
          </a:p>
        </p:txBody>
      </p:sp>
      <p:sp>
        <p:nvSpPr>
          <p:cNvPr id="13" name="Shape 11"/>
          <p:cNvSpPr/>
          <p:nvPr/>
        </p:nvSpPr>
        <p:spPr>
          <a:xfrm>
            <a:off x="5195173" y="5583079"/>
            <a:ext cx="4239935" cy="2053233"/>
          </a:xfrm>
          <a:prstGeom prst="roundRect">
            <a:avLst>
              <a:gd name="adj" fmla="val 5344"/>
            </a:avLst>
          </a:prstGeom>
          <a:solidFill>
            <a:srgbClr val="FFFAF6"/>
          </a:solidFill>
          <a:ln w="22860">
            <a:solidFill>
              <a:srgbClr val="CCC4EC"/>
            </a:solidFill>
            <a:prstDash val="solid"/>
          </a:ln>
          <a:effectLst>
            <a:outerShdw dist="25400" dir="2700000" algn="bl" rotWithShape="0">
              <a:srgbClr val="CCC4EC">
                <a:alpha val="100000"/>
              </a:srgbClr>
            </a:outerShdw>
          </a:effectLst>
        </p:spPr>
      </p:sp>
      <p:sp>
        <p:nvSpPr>
          <p:cNvPr id="14" name="Shape 12"/>
          <p:cNvSpPr/>
          <p:nvPr/>
        </p:nvSpPr>
        <p:spPr>
          <a:xfrm>
            <a:off x="5172313" y="5583079"/>
            <a:ext cx="91440" cy="2053233"/>
          </a:xfrm>
          <a:prstGeom prst="roundRect">
            <a:avLst>
              <a:gd name="adj" fmla="val 88314"/>
            </a:avLst>
          </a:prstGeom>
          <a:solidFill>
            <a:srgbClr val="CCC4EC"/>
          </a:solidFill>
          <a:ln/>
        </p:spPr>
      </p:sp>
      <p:sp>
        <p:nvSpPr>
          <p:cNvPr id="15" name="Text 13"/>
          <p:cNvSpPr/>
          <p:nvPr/>
        </p:nvSpPr>
        <p:spPr>
          <a:xfrm>
            <a:off x="5478780" y="5798106"/>
            <a:ext cx="2772728" cy="300395"/>
          </a:xfrm>
          <a:prstGeom prst="rect">
            <a:avLst/>
          </a:prstGeom>
          <a:noFill/>
          <a:ln/>
        </p:spPr>
        <p:txBody>
          <a:bodyPr wrap="none" lIns="0" tIns="0" rIns="0" bIns="0" rtlCol="0" anchor="t"/>
          <a:lstStyle/>
          <a:p>
            <a:pPr marL="0" indent="0" algn="l">
              <a:lnSpc>
                <a:spcPts val="2350"/>
              </a:lnSpc>
              <a:buNone/>
            </a:pPr>
            <a:r>
              <a:rPr lang="en-US" sz="1850" dirty="0">
                <a:solidFill>
                  <a:srgbClr val="6F655D"/>
                </a:solidFill>
                <a:latin typeface="Playfair Display Semi Bold" pitchFamily="34" charset="0"/>
                <a:ea typeface="Playfair Display Semi Bold" pitchFamily="34" charset="-122"/>
                <a:cs typeface="Playfair Display Semi Bold" pitchFamily="34" charset="-120"/>
              </a:rPr>
              <a:t>Random Forest Classifier</a:t>
            </a:r>
            <a:endParaRPr lang="en-US" sz="1850" dirty="0"/>
          </a:p>
        </p:txBody>
      </p:sp>
      <p:sp>
        <p:nvSpPr>
          <p:cNvPr id="16" name="Text 14"/>
          <p:cNvSpPr/>
          <p:nvPr/>
        </p:nvSpPr>
        <p:spPr>
          <a:xfrm>
            <a:off x="5478780" y="6210181"/>
            <a:ext cx="3741301" cy="908328"/>
          </a:xfrm>
          <a:prstGeom prst="rect">
            <a:avLst/>
          </a:prstGeom>
          <a:noFill/>
          <a:ln/>
        </p:spPr>
        <p:txBody>
          <a:bodyPr wrap="square" lIns="0" tIns="0" rIns="0" bIns="0" rtlCol="0" anchor="t"/>
          <a:lstStyle/>
          <a:p>
            <a:pPr marL="0" indent="0" algn="l">
              <a:lnSpc>
                <a:spcPts val="2350"/>
              </a:lnSpc>
              <a:buNone/>
            </a:pPr>
            <a:r>
              <a:rPr lang="en-US" sz="1500" dirty="0">
                <a:solidFill>
                  <a:srgbClr val="6F655D"/>
                </a:solidFill>
                <a:latin typeface="Public Sans" pitchFamily="34" charset="0"/>
                <a:ea typeface="Public Sans" pitchFamily="34" charset="-122"/>
                <a:cs typeface="Public Sans" pitchFamily="34" charset="-120"/>
              </a:rPr>
              <a:t>Trained using training dataset with 20 trees, features column, and dropout label column</a:t>
            </a:r>
            <a:endParaRPr lang="en-US" sz="1500" dirty="0"/>
          </a:p>
        </p:txBody>
      </p:sp>
      <p:sp>
        <p:nvSpPr>
          <p:cNvPr id="17" name="Shape 15"/>
          <p:cNvSpPr/>
          <p:nvPr/>
        </p:nvSpPr>
        <p:spPr>
          <a:xfrm>
            <a:off x="9621322" y="5583079"/>
            <a:ext cx="4239935" cy="2053233"/>
          </a:xfrm>
          <a:prstGeom prst="roundRect">
            <a:avLst>
              <a:gd name="adj" fmla="val 5344"/>
            </a:avLst>
          </a:prstGeom>
          <a:solidFill>
            <a:srgbClr val="FFFAF6"/>
          </a:solidFill>
          <a:ln w="22860">
            <a:solidFill>
              <a:srgbClr val="B4DAE4"/>
            </a:solidFill>
            <a:prstDash val="solid"/>
          </a:ln>
          <a:effectLst>
            <a:outerShdw dist="25400" dir="2700000" algn="bl" rotWithShape="0">
              <a:srgbClr val="B4DAE4">
                <a:alpha val="100000"/>
              </a:srgbClr>
            </a:outerShdw>
          </a:effectLst>
        </p:spPr>
      </p:sp>
      <p:sp>
        <p:nvSpPr>
          <p:cNvPr id="18" name="Shape 16"/>
          <p:cNvSpPr/>
          <p:nvPr/>
        </p:nvSpPr>
        <p:spPr>
          <a:xfrm>
            <a:off x="9598462" y="5583079"/>
            <a:ext cx="91440" cy="2053233"/>
          </a:xfrm>
          <a:prstGeom prst="roundRect">
            <a:avLst>
              <a:gd name="adj" fmla="val 88314"/>
            </a:avLst>
          </a:prstGeom>
          <a:solidFill>
            <a:srgbClr val="B4DAE4"/>
          </a:solidFill>
          <a:ln/>
        </p:spPr>
      </p:sp>
      <p:sp>
        <p:nvSpPr>
          <p:cNvPr id="19" name="Text 17"/>
          <p:cNvSpPr/>
          <p:nvPr/>
        </p:nvSpPr>
        <p:spPr>
          <a:xfrm>
            <a:off x="9904928" y="5798106"/>
            <a:ext cx="2403396" cy="300395"/>
          </a:xfrm>
          <a:prstGeom prst="rect">
            <a:avLst/>
          </a:prstGeom>
          <a:noFill/>
          <a:ln/>
        </p:spPr>
        <p:txBody>
          <a:bodyPr wrap="none" lIns="0" tIns="0" rIns="0" bIns="0" rtlCol="0" anchor="t"/>
          <a:lstStyle/>
          <a:p>
            <a:pPr marL="0" indent="0" algn="l">
              <a:lnSpc>
                <a:spcPts val="2350"/>
              </a:lnSpc>
              <a:buNone/>
            </a:pPr>
            <a:r>
              <a:rPr lang="en-US" sz="1850" dirty="0">
                <a:solidFill>
                  <a:srgbClr val="6F655D"/>
                </a:solidFill>
                <a:latin typeface="Playfair Display Semi Bold" pitchFamily="34" charset="0"/>
                <a:ea typeface="Playfair Display Semi Bold" pitchFamily="34" charset="-122"/>
                <a:cs typeface="Playfair Display Semi Bold" pitchFamily="34" charset="-120"/>
              </a:rPr>
              <a:t>Model Evaluation</a:t>
            </a:r>
            <a:endParaRPr lang="en-US" sz="1850" dirty="0"/>
          </a:p>
        </p:txBody>
      </p:sp>
      <p:sp>
        <p:nvSpPr>
          <p:cNvPr id="20" name="Text 18"/>
          <p:cNvSpPr/>
          <p:nvPr/>
        </p:nvSpPr>
        <p:spPr>
          <a:xfrm>
            <a:off x="9904928" y="6210181"/>
            <a:ext cx="3741301" cy="1211104"/>
          </a:xfrm>
          <a:prstGeom prst="rect">
            <a:avLst/>
          </a:prstGeom>
          <a:noFill/>
          <a:ln/>
        </p:spPr>
        <p:txBody>
          <a:bodyPr wrap="square" lIns="0" tIns="0" rIns="0" bIns="0" rtlCol="0" anchor="t"/>
          <a:lstStyle/>
          <a:p>
            <a:pPr marL="0" indent="0" algn="l">
              <a:lnSpc>
                <a:spcPts val="2350"/>
              </a:lnSpc>
              <a:buNone/>
            </a:pPr>
            <a:r>
              <a:rPr lang="en-US" sz="1500" dirty="0">
                <a:solidFill>
                  <a:srgbClr val="6F655D"/>
                </a:solidFill>
                <a:latin typeface="Public Sans" pitchFamily="34" charset="0"/>
                <a:ea typeface="Public Sans" pitchFamily="34" charset="-122"/>
                <a:cs typeface="Public Sans" pitchFamily="34" charset="-120"/>
              </a:rPr>
              <a:t>BinaryClassificationEvaluator for ROC-AUC and MulticlassClassificationEvaluator for F1-score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2351" y="518636"/>
            <a:ext cx="4411980" cy="523280"/>
          </a:xfrm>
          <a:prstGeom prst="rect">
            <a:avLst/>
          </a:prstGeom>
          <a:noFill/>
          <a:ln/>
        </p:spPr>
        <p:txBody>
          <a:bodyPr wrap="none" lIns="0" tIns="0" rIns="0" bIns="0" rtlCol="0" anchor="t"/>
          <a:lstStyle/>
          <a:p>
            <a:pPr marL="0" indent="0" algn="l">
              <a:lnSpc>
                <a:spcPts val="4100"/>
              </a:lnSpc>
              <a:buNone/>
            </a:pPr>
            <a:r>
              <a:rPr lang="en-US" sz="3250" dirty="0">
                <a:solidFill>
                  <a:srgbClr val="4B6981"/>
                </a:solidFill>
                <a:latin typeface="Playfair Display Semi Bold" pitchFamily="34" charset="0"/>
                <a:ea typeface="Playfair Display Semi Bold" pitchFamily="34" charset="-122"/>
                <a:cs typeface="Playfair Display Semi Bold" pitchFamily="34" charset="-120"/>
              </a:rPr>
              <a:t>Results and Discussion</a:t>
            </a:r>
            <a:endParaRPr lang="en-US" sz="3250" dirty="0"/>
          </a:p>
        </p:txBody>
      </p:sp>
      <p:sp>
        <p:nvSpPr>
          <p:cNvPr id="3" name="Text 1"/>
          <p:cNvSpPr/>
          <p:nvPr/>
        </p:nvSpPr>
        <p:spPr>
          <a:xfrm>
            <a:off x="712351" y="1324451"/>
            <a:ext cx="13205579" cy="494109"/>
          </a:xfrm>
          <a:prstGeom prst="rect">
            <a:avLst/>
          </a:prstGeom>
          <a:noFill/>
          <a:ln/>
        </p:spPr>
        <p:txBody>
          <a:bodyPr wrap="square" lIns="0" tIns="0" rIns="0" bIns="0" rtlCol="0" anchor="t"/>
          <a:lstStyle/>
          <a:p>
            <a:pPr marL="0" indent="0" algn="l">
              <a:lnSpc>
                <a:spcPts val="1900"/>
              </a:lnSpc>
              <a:buNone/>
            </a:pPr>
            <a:r>
              <a:rPr lang="en-US" sz="1300" dirty="0">
                <a:solidFill>
                  <a:srgbClr val="6F655D"/>
                </a:solidFill>
                <a:latin typeface="Public Sans" pitchFamily="34" charset="0"/>
                <a:ea typeface="Public Sans" pitchFamily="34" charset="-122"/>
                <a:cs typeface="Public Sans" pitchFamily="34" charset="-120"/>
              </a:rPr>
              <a:t>The results of the project indicate that the Random Forest classifier performs exceptionally well on the given dataset. The model achieves a ROC-AUC score of 1.000 and an F1-score of 1.000, indicating perfect classification performance.</a:t>
            </a:r>
            <a:endParaRPr lang="en-US" sz="1300" dirty="0"/>
          </a:p>
        </p:txBody>
      </p:sp>
      <p:sp>
        <p:nvSpPr>
          <p:cNvPr id="4" name="Text 2"/>
          <p:cNvSpPr/>
          <p:nvPr/>
        </p:nvSpPr>
        <p:spPr>
          <a:xfrm>
            <a:off x="712351" y="2061210"/>
            <a:ext cx="6514505" cy="552569"/>
          </a:xfrm>
          <a:prstGeom prst="rect">
            <a:avLst/>
          </a:prstGeom>
          <a:noFill/>
          <a:ln/>
        </p:spPr>
        <p:txBody>
          <a:bodyPr wrap="none" lIns="0" tIns="0" rIns="0" bIns="0" rtlCol="0" anchor="t"/>
          <a:lstStyle/>
          <a:p>
            <a:pPr marL="0" indent="0" algn="ctr">
              <a:lnSpc>
                <a:spcPts val="4350"/>
              </a:lnSpc>
              <a:buNone/>
            </a:pPr>
            <a:r>
              <a:rPr lang="en-US" sz="4350" dirty="0">
                <a:solidFill>
                  <a:srgbClr val="6F655D"/>
                </a:solidFill>
                <a:latin typeface="Playfair Display Semi Bold" pitchFamily="34" charset="0"/>
                <a:ea typeface="Playfair Display Semi Bold" pitchFamily="34" charset="-122"/>
                <a:cs typeface="Playfair Display Semi Bold" pitchFamily="34" charset="-120"/>
              </a:rPr>
              <a:t>1.000</a:t>
            </a:r>
            <a:endParaRPr lang="en-US" sz="4350" dirty="0"/>
          </a:p>
        </p:txBody>
      </p:sp>
      <p:sp>
        <p:nvSpPr>
          <p:cNvPr id="5" name="Text 3"/>
          <p:cNvSpPr/>
          <p:nvPr/>
        </p:nvSpPr>
        <p:spPr>
          <a:xfrm>
            <a:off x="2922984" y="2803446"/>
            <a:ext cx="2093238" cy="261580"/>
          </a:xfrm>
          <a:prstGeom prst="rect">
            <a:avLst/>
          </a:prstGeom>
          <a:noFill/>
          <a:ln/>
        </p:spPr>
        <p:txBody>
          <a:bodyPr wrap="none" lIns="0" tIns="0" rIns="0" bIns="0" rtlCol="0" anchor="t"/>
          <a:lstStyle/>
          <a:p>
            <a:pPr marL="0" indent="0" algn="ctr">
              <a:lnSpc>
                <a:spcPts val="2050"/>
              </a:lnSpc>
              <a:buNone/>
            </a:pPr>
            <a:r>
              <a:rPr lang="en-US" sz="1600" dirty="0">
                <a:solidFill>
                  <a:srgbClr val="6F655D"/>
                </a:solidFill>
                <a:latin typeface="Playfair Display Semi Bold" pitchFamily="34" charset="0"/>
                <a:ea typeface="Playfair Display Semi Bold" pitchFamily="34" charset="-122"/>
                <a:cs typeface="Playfair Display Semi Bold" pitchFamily="34" charset="-120"/>
              </a:rPr>
              <a:t>ROC-AUC Score</a:t>
            </a:r>
            <a:endParaRPr lang="en-US" sz="1600" dirty="0"/>
          </a:p>
        </p:txBody>
      </p:sp>
      <p:sp>
        <p:nvSpPr>
          <p:cNvPr id="6" name="Text 4"/>
          <p:cNvSpPr/>
          <p:nvPr/>
        </p:nvSpPr>
        <p:spPr>
          <a:xfrm>
            <a:off x="712351" y="3149798"/>
            <a:ext cx="6514505" cy="247055"/>
          </a:xfrm>
          <a:prstGeom prst="rect">
            <a:avLst/>
          </a:prstGeom>
          <a:noFill/>
          <a:ln/>
        </p:spPr>
        <p:txBody>
          <a:bodyPr wrap="none" lIns="0" tIns="0" rIns="0" bIns="0" rtlCol="0" anchor="t"/>
          <a:lstStyle/>
          <a:p>
            <a:pPr marL="0" indent="0" algn="ctr">
              <a:lnSpc>
                <a:spcPts val="1900"/>
              </a:lnSpc>
              <a:buNone/>
            </a:pPr>
            <a:r>
              <a:rPr lang="en-US" sz="1300" dirty="0">
                <a:solidFill>
                  <a:srgbClr val="6F655D"/>
                </a:solidFill>
                <a:latin typeface="Public Sans" pitchFamily="34" charset="0"/>
                <a:ea typeface="Public Sans" pitchFamily="34" charset="-122"/>
                <a:cs typeface="Public Sans" pitchFamily="34" charset="-120"/>
              </a:rPr>
              <a:t>Perfect classification performance</a:t>
            </a:r>
            <a:endParaRPr lang="en-US" sz="1300" dirty="0"/>
          </a:p>
        </p:txBody>
      </p:sp>
      <p:sp>
        <p:nvSpPr>
          <p:cNvPr id="7" name="Text 5"/>
          <p:cNvSpPr/>
          <p:nvPr/>
        </p:nvSpPr>
        <p:spPr>
          <a:xfrm>
            <a:off x="7403425" y="2061210"/>
            <a:ext cx="6514505" cy="552569"/>
          </a:xfrm>
          <a:prstGeom prst="rect">
            <a:avLst/>
          </a:prstGeom>
          <a:noFill/>
          <a:ln/>
        </p:spPr>
        <p:txBody>
          <a:bodyPr wrap="none" lIns="0" tIns="0" rIns="0" bIns="0" rtlCol="0" anchor="t"/>
          <a:lstStyle/>
          <a:p>
            <a:pPr marL="0" indent="0" algn="ctr">
              <a:lnSpc>
                <a:spcPts val="4350"/>
              </a:lnSpc>
              <a:buNone/>
            </a:pPr>
            <a:r>
              <a:rPr lang="en-US" sz="4350" dirty="0">
                <a:solidFill>
                  <a:srgbClr val="6F655D"/>
                </a:solidFill>
                <a:latin typeface="Playfair Display Semi Bold" pitchFamily="34" charset="0"/>
                <a:ea typeface="Playfair Display Semi Bold" pitchFamily="34" charset="-122"/>
                <a:cs typeface="Playfair Display Semi Bold" pitchFamily="34" charset="-120"/>
              </a:rPr>
              <a:t>1.000</a:t>
            </a:r>
            <a:endParaRPr lang="en-US" sz="4350" dirty="0"/>
          </a:p>
        </p:txBody>
      </p:sp>
      <p:sp>
        <p:nvSpPr>
          <p:cNvPr id="8" name="Text 6"/>
          <p:cNvSpPr/>
          <p:nvPr/>
        </p:nvSpPr>
        <p:spPr>
          <a:xfrm>
            <a:off x="9614059" y="2803446"/>
            <a:ext cx="2093238" cy="261580"/>
          </a:xfrm>
          <a:prstGeom prst="rect">
            <a:avLst/>
          </a:prstGeom>
          <a:noFill/>
          <a:ln/>
        </p:spPr>
        <p:txBody>
          <a:bodyPr wrap="none" lIns="0" tIns="0" rIns="0" bIns="0" rtlCol="0" anchor="t"/>
          <a:lstStyle/>
          <a:p>
            <a:pPr marL="0" indent="0" algn="ctr">
              <a:lnSpc>
                <a:spcPts val="2050"/>
              </a:lnSpc>
              <a:buNone/>
            </a:pPr>
            <a:r>
              <a:rPr lang="en-US" sz="1600" dirty="0">
                <a:solidFill>
                  <a:srgbClr val="6F655D"/>
                </a:solidFill>
                <a:latin typeface="Playfair Display Semi Bold" pitchFamily="34" charset="0"/>
                <a:ea typeface="Playfair Display Semi Bold" pitchFamily="34" charset="-122"/>
                <a:cs typeface="Playfair Display Semi Bold" pitchFamily="34" charset="-120"/>
              </a:rPr>
              <a:t>F1-Score</a:t>
            </a:r>
            <a:endParaRPr lang="en-US" sz="1600" dirty="0"/>
          </a:p>
        </p:txBody>
      </p:sp>
      <p:sp>
        <p:nvSpPr>
          <p:cNvPr id="9" name="Text 7"/>
          <p:cNvSpPr/>
          <p:nvPr/>
        </p:nvSpPr>
        <p:spPr>
          <a:xfrm>
            <a:off x="7403425" y="3149798"/>
            <a:ext cx="6514505" cy="247055"/>
          </a:xfrm>
          <a:prstGeom prst="rect">
            <a:avLst/>
          </a:prstGeom>
          <a:noFill/>
          <a:ln/>
        </p:spPr>
        <p:txBody>
          <a:bodyPr wrap="none" lIns="0" tIns="0" rIns="0" bIns="0" rtlCol="0" anchor="t"/>
          <a:lstStyle/>
          <a:p>
            <a:pPr marL="0" indent="0" algn="ctr">
              <a:lnSpc>
                <a:spcPts val="1900"/>
              </a:lnSpc>
              <a:buNone/>
            </a:pPr>
            <a:r>
              <a:rPr lang="en-US" sz="1300" dirty="0">
                <a:solidFill>
                  <a:srgbClr val="6F655D"/>
                </a:solidFill>
                <a:latin typeface="Public Sans" pitchFamily="34" charset="0"/>
                <a:ea typeface="Public Sans" pitchFamily="34" charset="-122"/>
                <a:cs typeface="Public Sans" pitchFamily="34" charset="-120"/>
              </a:rPr>
              <a:t>Excellent balance of precision and recall</a:t>
            </a:r>
            <a:endParaRPr lang="en-US" sz="1300" dirty="0"/>
          </a:p>
        </p:txBody>
      </p:sp>
      <p:sp>
        <p:nvSpPr>
          <p:cNvPr id="10" name="Text 8"/>
          <p:cNvSpPr/>
          <p:nvPr/>
        </p:nvSpPr>
        <p:spPr>
          <a:xfrm>
            <a:off x="712351" y="3763089"/>
            <a:ext cx="6514505" cy="552569"/>
          </a:xfrm>
          <a:prstGeom prst="rect">
            <a:avLst/>
          </a:prstGeom>
          <a:noFill/>
          <a:ln/>
        </p:spPr>
        <p:txBody>
          <a:bodyPr wrap="none" lIns="0" tIns="0" rIns="0" bIns="0" rtlCol="0" anchor="t"/>
          <a:lstStyle/>
          <a:p>
            <a:pPr marL="0" indent="0" algn="ctr">
              <a:lnSpc>
                <a:spcPts val="4350"/>
              </a:lnSpc>
              <a:buNone/>
            </a:pPr>
            <a:r>
              <a:rPr lang="en-US" sz="4350" dirty="0">
                <a:solidFill>
                  <a:srgbClr val="6F655D"/>
                </a:solidFill>
                <a:latin typeface="Playfair Display Semi Bold" pitchFamily="34" charset="0"/>
                <a:ea typeface="Playfair Display Semi Bold" pitchFamily="34" charset="-122"/>
                <a:cs typeface="Playfair Display Semi Bold" pitchFamily="34" charset="-120"/>
              </a:rPr>
              <a:t>80%</a:t>
            </a:r>
            <a:endParaRPr lang="en-US" sz="4350" dirty="0"/>
          </a:p>
        </p:txBody>
      </p:sp>
      <p:sp>
        <p:nvSpPr>
          <p:cNvPr id="11" name="Text 9"/>
          <p:cNvSpPr/>
          <p:nvPr/>
        </p:nvSpPr>
        <p:spPr>
          <a:xfrm>
            <a:off x="2922984" y="4505325"/>
            <a:ext cx="2093238" cy="261580"/>
          </a:xfrm>
          <a:prstGeom prst="rect">
            <a:avLst/>
          </a:prstGeom>
          <a:noFill/>
          <a:ln/>
        </p:spPr>
        <p:txBody>
          <a:bodyPr wrap="none" lIns="0" tIns="0" rIns="0" bIns="0" rtlCol="0" anchor="t"/>
          <a:lstStyle/>
          <a:p>
            <a:pPr marL="0" indent="0" algn="ctr">
              <a:lnSpc>
                <a:spcPts val="2050"/>
              </a:lnSpc>
              <a:buNone/>
            </a:pPr>
            <a:r>
              <a:rPr lang="en-US" sz="1600" dirty="0">
                <a:solidFill>
                  <a:srgbClr val="6F655D"/>
                </a:solidFill>
                <a:latin typeface="Playfair Display Semi Bold" pitchFamily="34" charset="0"/>
                <a:ea typeface="Playfair Display Semi Bold" pitchFamily="34" charset="-122"/>
                <a:cs typeface="Playfair Display Semi Bold" pitchFamily="34" charset="-120"/>
              </a:rPr>
              <a:t>Training Data</a:t>
            </a:r>
            <a:endParaRPr lang="en-US" sz="1600" dirty="0"/>
          </a:p>
        </p:txBody>
      </p:sp>
      <p:sp>
        <p:nvSpPr>
          <p:cNvPr id="12" name="Text 10"/>
          <p:cNvSpPr/>
          <p:nvPr/>
        </p:nvSpPr>
        <p:spPr>
          <a:xfrm>
            <a:off x="712351" y="4851678"/>
            <a:ext cx="6514505" cy="247055"/>
          </a:xfrm>
          <a:prstGeom prst="rect">
            <a:avLst/>
          </a:prstGeom>
          <a:noFill/>
          <a:ln/>
        </p:spPr>
        <p:txBody>
          <a:bodyPr wrap="none" lIns="0" tIns="0" rIns="0" bIns="0" rtlCol="0" anchor="t"/>
          <a:lstStyle/>
          <a:p>
            <a:pPr marL="0" indent="0" algn="ctr">
              <a:lnSpc>
                <a:spcPts val="1900"/>
              </a:lnSpc>
              <a:buNone/>
            </a:pPr>
            <a:r>
              <a:rPr lang="en-US" sz="1300" dirty="0">
                <a:solidFill>
                  <a:srgbClr val="6F655D"/>
                </a:solidFill>
                <a:latin typeface="Public Sans" pitchFamily="34" charset="0"/>
                <a:ea typeface="Public Sans" pitchFamily="34" charset="-122"/>
                <a:cs typeface="Public Sans" pitchFamily="34" charset="-120"/>
              </a:rPr>
              <a:t>Dataset split ratio</a:t>
            </a:r>
            <a:endParaRPr lang="en-US" sz="1300" dirty="0"/>
          </a:p>
        </p:txBody>
      </p:sp>
      <p:sp>
        <p:nvSpPr>
          <p:cNvPr id="13" name="Text 11"/>
          <p:cNvSpPr/>
          <p:nvPr/>
        </p:nvSpPr>
        <p:spPr>
          <a:xfrm>
            <a:off x="7403425" y="3763089"/>
            <a:ext cx="6514505" cy="552569"/>
          </a:xfrm>
          <a:prstGeom prst="rect">
            <a:avLst/>
          </a:prstGeom>
          <a:noFill/>
          <a:ln/>
        </p:spPr>
        <p:txBody>
          <a:bodyPr wrap="none" lIns="0" tIns="0" rIns="0" bIns="0" rtlCol="0" anchor="t"/>
          <a:lstStyle/>
          <a:p>
            <a:pPr marL="0" indent="0" algn="ctr">
              <a:lnSpc>
                <a:spcPts val="4350"/>
              </a:lnSpc>
              <a:buNone/>
            </a:pPr>
            <a:r>
              <a:rPr lang="en-US" sz="4350" dirty="0">
                <a:solidFill>
                  <a:srgbClr val="6F655D"/>
                </a:solidFill>
                <a:latin typeface="Playfair Display Semi Bold" pitchFamily="34" charset="0"/>
                <a:ea typeface="Playfair Display Semi Bold" pitchFamily="34" charset="-122"/>
                <a:cs typeface="Playfair Display Semi Bold" pitchFamily="34" charset="-120"/>
              </a:rPr>
              <a:t>20%</a:t>
            </a:r>
            <a:endParaRPr lang="en-US" sz="4350" dirty="0"/>
          </a:p>
        </p:txBody>
      </p:sp>
      <p:sp>
        <p:nvSpPr>
          <p:cNvPr id="14" name="Text 12"/>
          <p:cNvSpPr/>
          <p:nvPr/>
        </p:nvSpPr>
        <p:spPr>
          <a:xfrm>
            <a:off x="9614059" y="4505325"/>
            <a:ext cx="2093238" cy="261580"/>
          </a:xfrm>
          <a:prstGeom prst="rect">
            <a:avLst/>
          </a:prstGeom>
          <a:noFill/>
          <a:ln/>
        </p:spPr>
        <p:txBody>
          <a:bodyPr wrap="none" lIns="0" tIns="0" rIns="0" bIns="0" rtlCol="0" anchor="t"/>
          <a:lstStyle/>
          <a:p>
            <a:pPr marL="0" indent="0" algn="ctr">
              <a:lnSpc>
                <a:spcPts val="2050"/>
              </a:lnSpc>
              <a:buNone/>
            </a:pPr>
            <a:r>
              <a:rPr lang="en-US" sz="1600" dirty="0">
                <a:solidFill>
                  <a:srgbClr val="6F655D"/>
                </a:solidFill>
                <a:latin typeface="Playfair Display Semi Bold" pitchFamily="34" charset="0"/>
                <a:ea typeface="Playfair Display Semi Bold" pitchFamily="34" charset="-122"/>
                <a:cs typeface="Playfair Display Semi Bold" pitchFamily="34" charset="-120"/>
              </a:rPr>
              <a:t>Testing Data</a:t>
            </a:r>
            <a:endParaRPr lang="en-US" sz="1600" dirty="0"/>
          </a:p>
        </p:txBody>
      </p:sp>
      <p:sp>
        <p:nvSpPr>
          <p:cNvPr id="15" name="Text 13"/>
          <p:cNvSpPr/>
          <p:nvPr/>
        </p:nvSpPr>
        <p:spPr>
          <a:xfrm>
            <a:off x="7403425" y="4851678"/>
            <a:ext cx="6514505" cy="247055"/>
          </a:xfrm>
          <a:prstGeom prst="rect">
            <a:avLst/>
          </a:prstGeom>
          <a:noFill/>
          <a:ln/>
        </p:spPr>
        <p:txBody>
          <a:bodyPr wrap="none" lIns="0" tIns="0" rIns="0" bIns="0" rtlCol="0" anchor="t"/>
          <a:lstStyle/>
          <a:p>
            <a:pPr marL="0" indent="0" algn="ctr">
              <a:lnSpc>
                <a:spcPts val="1900"/>
              </a:lnSpc>
              <a:buNone/>
            </a:pPr>
            <a:r>
              <a:rPr lang="en-US" sz="1300" dirty="0">
                <a:solidFill>
                  <a:srgbClr val="6F655D"/>
                </a:solidFill>
                <a:latin typeface="Public Sans" pitchFamily="34" charset="0"/>
                <a:ea typeface="Public Sans" pitchFamily="34" charset="-122"/>
                <a:cs typeface="Public Sans" pitchFamily="34" charset="-120"/>
              </a:rPr>
              <a:t>Unseen data evaluation</a:t>
            </a:r>
            <a:endParaRPr lang="en-US" sz="1300" dirty="0"/>
          </a:p>
        </p:txBody>
      </p:sp>
      <p:sp>
        <p:nvSpPr>
          <p:cNvPr id="16" name="Text 14"/>
          <p:cNvSpPr/>
          <p:nvPr/>
        </p:nvSpPr>
        <p:spPr>
          <a:xfrm>
            <a:off x="712351" y="5257681"/>
            <a:ext cx="13205579" cy="494109"/>
          </a:xfrm>
          <a:prstGeom prst="rect">
            <a:avLst/>
          </a:prstGeom>
          <a:noFill/>
          <a:ln/>
        </p:spPr>
        <p:txBody>
          <a:bodyPr wrap="square" lIns="0" tIns="0" rIns="0" bIns="0" rtlCol="0" anchor="t"/>
          <a:lstStyle/>
          <a:p>
            <a:pPr marL="0" indent="0" algn="l">
              <a:lnSpc>
                <a:spcPts val="1900"/>
              </a:lnSpc>
              <a:buNone/>
            </a:pPr>
            <a:r>
              <a:rPr lang="en-US" sz="1300" dirty="0">
                <a:solidFill>
                  <a:srgbClr val="6F655D"/>
                </a:solidFill>
                <a:latin typeface="Public Sans" pitchFamily="34" charset="0"/>
                <a:ea typeface="Public Sans" pitchFamily="34" charset="-122"/>
                <a:cs typeface="Public Sans" pitchFamily="34" charset="-120"/>
              </a:rPr>
              <a:t>However, it is important to interpret these results with caution. The dataset used in this project is relatively small and synthetic in nature. As a result, the model may overfit the data, leading to overly optimistic performance metrics.</a:t>
            </a:r>
            <a:endParaRPr lang="en-US" sz="1300" dirty="0"/>
          </a:p>
        </p:txBody>
      </p:sp>
      <p:sp>
        <p:nvSpPr>
          <p:cNvPr id="17" name="Text 15"/>
          <p:cNvSpPr/>
          <p:nvPr/>
        </p:nvSpPr>
        <p:spPr>
          <a:xfrm>
            <a:off x="712351" y="5910739"/>
            <a:ext cx="13205579" cy="494109"/>
          </a:xfrm>
          <a:prstGeom prst="rect">
            <a:avLst/>
          </a:prstGeom>
          <a:noFill/>
          <a:ln/>
        </p:spPr>
        <p:txBody>
          <a:bodyPr wrap="square" lIns="0" tIns="0" rIns="0" bIns="0" rtlCol="0" anchor="t"/>
          <a:lstStyle/>
          <a:p>
            <a:pPr marL="0" indent="0" algn="l">
              <a:lnSpc>
                <a:spcPts val="1900"/>
              </a:lnSpc>
              <a:buNone/>
            </a:pPr>
            <a:r>
              <a:rPr lang="en-US" sz="1300" dirty="0">
                <a:solidFill>
                  <a:srgbClr val="6F655D"/>
                </a:solidFill>
                <a:latin typeface="Public Sans" pitchFamily="34" charset="0"/>
                <a:ea typeface="Public Sans" pitchFamily="34" charset="-122"/>
                <a:cs typeface="Public Sans" pitchFamily="34" charset="-120"/>
              </a:rPr>
              <a:t>The prediction results show that the model is able to correctly identify students who are likely to drop out. The probability scores provide additional insight into the confidence of the predictions.</a:t>
            </a:r>
            <a:endParaRPr lang="en-US" sz="1300" dirty="0"/>
          </a:p>
        </p:txBody>
      </p:sp>
      <p:sp>
        <p:nvSpPr>
          <p:cNvPr id="18" name="Text 16"/>
          <p:cNvSpPr/>
          <p:nvPr/>
        </p:nvSpPr>
        <p:spPr>
          <a:xfrm>
            <a:off x="712351" y="6563797"/>
            <a:ext cx="13205579" cy="494109"/>
          </a:xfrm>
          <a:prstGeom prst="rect">
            <a:avLst/>
          </a:prstGeom>
          <a:noFill/>
          <a:ln/>
        </p:spPr>
        <p:txBody>
          <a:bodyPr wrap="square" lIns="0" tIns="0" rIns="0" bIns="0" rtlCol="0" anchor="t"/>
          <a:lstStyle/>
          <a:p>
            <a:pPr marL="0" indent="0" algn="l">
              <a:lnSpc>
                <a:spcPts val="1900"/>
              </a:lnSpc>
              <a:buNone/>
            </a:pPr>
            <a:r>
              <a:rPr lang="en-US" sz="1300" dirty="0">
                <a:solidFill>
                  <a:srgbClr val="6F655D"/>
                </a:solidFill>
                <a:latin typeface="Public Sans" pitchFamily="34" charset="0"/>
                <a:ea typeface="Public Sans" pitchFamily="34" charset="-122"/>
                <a:cs typeface="Public Sans" pitchFamily="34" charset="-120"/>
              </a:rPr>
              <a:t>The visualisation of dropout versus retained students reveals an equal distribution of classes in the dataset. This balanced distribution helps the model learn effectively without bias toward a particular class.</a:t>
            </a:r>
            <a:endParaRPr lang="en-US" sz="1300" dirty="0"/>
          </a:p>
        </p:txBody>
      </p:sp>
      <p:sp>
        <p:nvSpPr>
          <p:cNvPr id="19" name="Text 17"/>
          <p:cNvSpPr/>
          <p:nvPr/>
        </p:nvSpPr>
        <p:spPr>
          <a:xfrm>
            <a:off x="712351" y="7216854"/>
            <a:ext cx="13205579" cy="494109"/>
          </a:xfrm>
          <a:prstGeom prst="rect">
            <a:avLst/>
          </a:prstGeom>
          <a:noFill/>
          <a:ln/>
        </p:spPr>
        <p:txBody>
          <a:bodyPr wrap="square" lIns="0" tIns="0" rIns="0" bIns="0" rtlCol="0" anchor="t"/>
          <a:lstStyle/>
          <a:p>
            <a:pPr marL="0" indent="0" algn="l">
              <a:lnSpc>
                <a:spcPts val="1900"/>
              </a:lnSpc>
              <a:buNone/>
            </a:pPr>
            <a:r>
              <a:rPr lang="en-US" sz="1300" dirty="0">
                <a:solidFill>
                  <a:srgbClr val="6F655D"/>
                </a:solidFill>
                <a:latin typeface="Public Sans" pitchFamily="34" charset="0"/>
                <a:ea typeface="Public Sans" pitchFamily="34" charset="-122"/>
                <a:cs typeface="Public Sans" pitchFamily="34" charset="-120"/>
              </a:rPr>
              <a:t>Overall, the results demonstrate the potential of machine learning techniques in predicting student dropout. However, further testing on larger and real-world datasets is necessary to validate the model's effectiveness in practical scenarios.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157895" y="301347"/>
            <a:ext cx="4257913" cy="329446"/>
          </a:xfrm>
          <a:prstGeom prst="rect">
            <a:avLst/>
          </a:prstGeom>
          <a:noFill/>
          <a:ln/>
        </p:spPr>
        <p:txBody>
          <a:bodyPr wrap="none" lIns="0" tIns="0" rIns="0" bIns="0" rtlCol="0" anchor="t"/>
          <a:lstStyle/>
          <a:p>
            <a:pPr marL="0" indent="0" algn="l">
              <a:lnSpc>
                <a:spcPts val="2550"/>
              </a:lnSpc>
              <a:buNone/>
            </a:pPr>
            <a:r>
              <a:rPr lang="en-US" sz="2050" dirty="0">
                <a:solidFill>
                  <a:srgbClr val="4B6981"/>
                </a:solidFill>
                <a:latin typeface="Playfair Display Semi Bold" pitchFamily="34" charset="0"/>
                <a:ea typeface="Playfair Display Semi Bold" pitchFamily="34" charset="-122"/>
                <a:cs typeface="Playfair Display Semi Bold" pitchFamily="34" charset="-120"/>
              </a:rPr>
              <a:t>Visualisation: Dropout Distribution</a:t>
            </a:r>
            <a:endParaRPr lang="en-US" sz="2050" dirty="0"/>
          </a:p>
        </p:txBody>
      </p:sp>
      <p:pic>
        <p:nvPicPr>
          <p:cNvPr id="3" name="Image 0" descr="preencoded.png"/>
          <p:cNvPicPr>
            <a:picLocks noChangeAspect="1"/>
          </p:cNvPicPr>
          <p:nvPr/>
        </p:nvPicPr>
        <p:blipFill>
          <a:blip r:embed="rId3"/>
          <a:stretch>
            <a:fillRect/>
          </a:stretch>
        </p:blipFill>
        <p:spPr>
          <a:xfrm>
            <a:off x="3157895" y="742712"/>
            <a:ext cx="6111240" cy="5295900"/>
          </a:xfrm>
          <a:prstGeom prst="rect">
            <a:avLst/>
          </a:prstGeom>
        </p:spPr>
      </p:pic>
      <p:sp>
        <p:nvSpPr>
          <p:cNvPr id="4" name="Shape 1"/>
          <p:cNvSpPr/>
          <p:nvPr/>
        </p:nvSpPr>
        <p:spPr>
          <a:xfrm>
            <a:off x="3157895" y="6101596"/>
            <a:ext cx="2734151" cy="1054775"/>
          </a:xfrm>
          <a:prstGeom prst="roundRect">
            <a:avLst>
              <a:gd name="adj" fmla="val 4198"/>
            </a:avLst>
          </a:prstGeom>
          <a:solidFill>
            <a:srgbClr val="F0DEDC"/>
          </a:solidFill>
          <a:ln w="7620">
            <a:solidFill>
              <a:srgbClr val="E1C2C2"/>
            </a:solidFill>
            <a:prstDash val="solid"/>
          </a:ln>
          <a:effectLst>
            <a:outerShdw dist="13970" dir="2700000" algn="bl" rotWithShape="0">
              <a:srgbClr val="E1C2C2">
                <a:alpha val="100000"/>
              </a:srgbClr>
            </a:outerShdw>
          </a:effectLst>
        </p:spPr>
      </p:sp>
      <p:sp>
        <p:nvSpPr>
          <p:cNvPr id="5" name="Shape 2"/>
          <p:cNvSpPr/>
          <p:nvPr/>
        </p:nvSpPr>
        <p:spPr>
          <a:xfrm>
            <a:off x="3270885" y="6214586"/>
            <a:ext cx="316230" cy="316230"/>
          </a:xfrm>
          <a:prstGeom prst="roundRect">
            <a:avLst>
              <a:gd name="adj" fmla="val 28912771"/>
            </a:avLst>
          </a:prstGeom>
          <a:solidFill>
            <a:srgbClr val="E1C2C2"/>
          </a:solidFill>
          <a:ln/>
        </p:spPr>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57801" y="6301502"/>
            <a:ext cx="142280" cy="142280"/>
          </a:xfrm>
          <a:prstGeom prst="rect">
            <a:avLst/>
          </a:prstGeom>
        </p:spPr>
      </p:pic>
      <p:sp>
        <p:nvSpPr>
          <p:cNvPr id="7" name="Text 3"/>
          <p:cNvSpPr/>
          <p:nvPr/>
        </p:nvSpPr>
        <p:spPr>
          <a:xfrm>
            <a:off x="3270885" y="6586776"/>
            <a:ext cx="1317903" cy="164663"/>
          </a:xfrm>
          <a:prstGeom prst="rect">
            <a:avLst/>
          </a:prstGeom>
          <a:noFill/>
          <a:ln/>
        </p:spPr>
        <p:txBody>
          <a:bodyPr wrap="none" lIns="0" tIns="0" rIns="0" bIns="0" rtlCol="0" anchor="t"/>
          <a:lstStyle/>
          <a:p>
            <a:pPr marL="0" indent="0" algn="l">
              <a:lnSpc>
                <a:spcPts val="1250"/>
              </a:lnSpc>
              <a:buNone/>
            </a:pPr>
            <a:r>
              <a:rPr lang="en-US" sz="1000" dirty="0">
                <a:solidFill>
                  <a:srgbClr val="000000"/>
                </a:solidFill>
                <a:latin typeface="Playfair Display Semi Bold" pitchFamily="34" charset="0"/>
                <a:ea typeface="Playfair Display Semi Bold" pitchFamily="34" charset="-122"/>
                <a:cs typeface="Playfair Display Semi Bold" pitchFamily="34" charset="-120"/>
              </a:rPr>
              <a:t>Equal Distribution</a:t>
            </a:r>
            <a:endParaRPr lang="en-US" sz="1000" dirty="0"/>
          </a:p>
        </p:txBody>
      </p:sp>
      <p:sp>
        <p:nvSpPr>
          <p:cNvPr id="8" name="Text 4"/>
          <p:cNvSpPr/>
          <p:nvPr/>
        </p:nvSpPr>
        <p:spPr>
          <a:xfrm>
            <a:off x="3270885" y="6785015"/>
            <a:ext cx="2508171" cy="258366"/>
          </a:xfrm>
          <a:prstGeom prst="rect">
            <a:avLst/>
          </a:prstGeom>
          <a:noFill/>
          <a:ln/>
        </p:spPr>
        <p:txBody>
          <a:bodyPr wrap="square" lIns="0" tIns="0" rIns="0" bIns="0" rtlCol="0" anchor="t"/>
          <a:lstStyle/>
          <a:p>
            <a:pPr marL="0" indent="0" algn="l">
              <a:lnSpc>
                <a:spcPts val="1000"/>
              </a:lnSpc>
              <a:buNone/>
            </a:pPr>
            <a:r>
              <a:rPr lang="en-US" sz="800" dirty="0">
                <a:solidFill>
                  <a:srgbClr val="000000"/>
                </a:solidFill>
                <a:latin typeface="Public Sans" pitchFamily="34" charset="0"/>
                <a:ea typeface="Public Sans" pitchFamily="34" charset="-122"/>
                <a:cs typeface="Public Sans" pitchFamily="34" charset="-120"/>
              </a:rPr>
              <a:t>Dataset shows balanced representation of retained and dropped out students</a:t>
            </a:r>
            <a:endParaRPr lang="en-US" sz="800" dirty="0"/>
          </a:p>
        </p:txBody>
      </p:sp>
      <p:sp>
        <p:nvSpPr>
          <p:cNvPr id="9" name="Shape 5"/>
          <p:cNvSpPr/>
          <p:nvPr/>
        </p:nvSpPr>
        <p:spPr>
          <a:xfrm>
            <a:off x="5948005" y="6101596"/>
            <a:ext cx="2734270" cy="1054775"/>
          </a:xfrm>
          <a:prstGeom prst="roundRect">
            <a:avLst>
              <a:gd name="adj" fmla="val 4198"/>
            </a:avLst>
          </a:prstGeom>
          <a:solidFill>
            <a:srgbClr val="F0DEDC"/>
          </a:solidFill>
          <a:ln w="7620">
            <a:solidFill>
              <a:srgbClr val="CCC4EC"/>
            </a:solidFill>
            <a:prstDash val="solid"/>
          </a:ln>
          <a:effectLst>
            <a:outerShdw dist="13970" dir="2700000" algn="bl" rotWithShape="0">
              <a:srgbClr val="CCC4EC">
                <a:alpha val="100000"/>
              </a:srgbClr>
            </a:outerShdw>
          </a:effectLst>
        </p:spPr>
      </p:sp>
      <p:sp>
        <p:nvSpPr>
          <p:cNvPr id="10" name="Shape 6"/>
          <p:cNvSpPr/>
          <p:nvPr/>
        </p:nvSpPr>
        <p:spPr>
          <a:xfrm>
            <a:off x="6060996" y="6214586"/>
            <a:ext cx="316230" cy="316230"/>
          </a:xfrm>
          <a:prstGeom prst="roundRect">
            <a:avLst>
              <a:gd name="adj" fmla="val 28912771"/>
            </a:avLst>
          </a:prstGeom>
          <a:solidFill>
            <a:srgbClr val="CCC4EC"/>
          </a:solidFill>
          <a:ln/>
        </p:spPr>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47911" y="6301502"/>
            <a:ext cx="142280" cy="142280"/>
          </a:xfrm>
          <a:prstGeom prst="rect">
            <a:avLst/>
          </a:prstGeom>
        </p:spPr>
      </p:pic>
      <p:sp>
        <p:nvSpPr>
          <p:cNvPr id="12" name="Text 7"/>
          <p:cNvSpPr/>
          <p:nvPr/>
        </p:nvSpPr>
        <p:spPr>
          <a:xfrm>
            <a:off x="6060996" y="6586776"/>
            <a:ext cx="1317903" cy="164663"/>
          </a:xfrm>
          <a:prstGeom prst="rect">
            <a:avLst/>
          </a:prstGeom>
          <a:noFill/>
          <a:ln/>
        </p:spPr>
        <p:txBody>
          <a:bodyPr wrap="none" lIns="0" tIns="0" rIns="0" bIns="0" rtlCol="0" anchor="t"/>
          <a:lstStyle/>
          <a:p>
            <a:pPr marL="0" indent="0" algn="l">
              <a:lnSpc>
                <a:spcPts val="1250"/>
              </a:lnSpc>
              <a:buNone/>
            </a:pPr>
            <a:r>
              <a:rPr lang="en-US" sz="1000" dirty="0">
                <a:solidFill>
                  <a:srgbClr val="000000"/>
                </a:solidFill>
                <a:latin typeface="Playfair Display Semi Bold" pitchFamily="34" charset="0"/>
                <a:ea typeface="Playfair Display Semi Bold" pitchFamily="34" charset="-122"/>
                <a:cs typeface="Playfair Display Semi Bold" pitchFamily="34" charset="-120"/>
              </a:rPr>
              <a:t>Model Learning</a:t>
            </a:r>
            <a:endParaRPr lang="en-US" sz="1000" dirty="0"/>
          </a:p>
        </p:txBody>
      </p:sp>
      <p:sp>
        <p:nvSpPr>
          <p:cNvPr id="13" name="Text 8"/>
          <p:cNvSpPr/>
          <p:nvPr/>
        </p:nvSpPr>
        <p:spPr>
          <a:xfrm>
            <a:off x="6060996" y="6785015"/>
            <a:ext cx="2508290" cy="258366"/>
          </a:xfrm>
          <a:prstGeom prst="rect">
            <a:avLst/>
          </a:prstGeom>
          <a:noFill/>
          <a:ln/>
        </p:spPr>
        <p:txBody>
          <a:bodyPr wrap="square" lIns="0" tIns="0" rIns="0" bIns="0" rtlCol="0" anchor="t"/>
          <a:lstStyle/>
          <a:p>
            <a:pPr marL="0" indent="0" algn="l">
              <a:lnSpc>
                <a:spcPts val="1000"/>
              </a:lnSpc>
              <a:buNone/>
            </a:pPr>
            <a:r>
              <a:rPr lang="en-US" sz="800" dirty="0">
                <a:solidFill>
                  <a:srgbClr val="000000"/>
                </a:solidFill>
                <a:latin typeface="Public Sans" pitchFamily="34" charset="0"/>
                <a:ea typeface="Public Sans" pitchFamily="34" charset="-122"/>
                <a:cs typeface="Public Sans" pitchFamily="34" charset="-120"/>
              </a:rPr>
              <a:t>Balanced classes help model learn without bias toward particular category</a:t>
            </a:r>
            <a:endParaRPr lang="en-US" sz="800" dirty="0"/>
          </a:p>
        </p:txBody>
      </p:sp>
      <p:sp>
        <p:nvSpPr>
          <p:cNvPr id="14" name="Shape 9"/>
          <p:cNvSpPr/>
          <p:nvPr/>
        </p:nvSpPr>
        <p:spPr>
          <a:xfrm>
            <a:off x="8738235" y="6101596"/>
            <a:ext cx="2734270" cy="1054775"/>
          </a:xfrm>
          <a:prstGeom prst="roundRect">
            <a:avLst>
              <a:gd name="adj" fmla="val 4198"/>
            </a:avLst>
          </a:prstGeom>
          <a:solidFill>
            <a:srgbClr val="F0DEDC"/>
          </a:solidFill>
          <a:ln w="7620">
            <a:solidFill>
              <a:srgbClr val="B4DAE4"/>
            </a:solidFill>
            <a:prstDash val="solid"/>
          </a:ln>
          <a:effectLst>
            <a:outerShdw dist="13970" dir="2700000" algn="bl" rotWithShape="0">
              <a:srgbClr val="B4DAE4">
                <a:alpha val="100000"/>
              </a:srgbClr>
            </a:outerShdw>
          </a:effectLst>
        </p:spPr>
      </p:sp>
      <p:sp>
        <p:nvSpPr>
          <p:cNvPr id="15" name="Shape 10"/>
          <p:cNvSpPr/>
          <p:nvPr/>
        </p:nvSpPr>
        <p:spPr>
          <a:xfrm>
            <a:off x="8851225" y="6214586"/>
            <a:ext cx="316230" cy="316230"/>
          </a:xfrm>
          <a:prstGeom prst="roundRect">
            <a:avLst>
              <a:gd name="adj" fmla="val 28912771"/>
            </a:avLst>
          </a:prstGeom>
          <a:solidFill>
            <a:srgbClr val="B4DAE4"/>
          </a:solidFill>
          <a:ln/>
        </p:spPr>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38141" y="6301502"/>
            <a:ext cx="142280" cy="142280"/>
          </a:xfrm>
          <a:prstGeom prst="rect">
            <a:avLst/>
          </a:prstGeom>
        </p:spPr>
      </p:pic>
      <p:sp>
        <p:nvSpPr>
          <p:cNvPr id="17" name="Text 11"/>
          <p:cNvSpPr/>
          <p:nvPr/>
        </p:nvSpPr>
        <p:spPr>
          <a:xfrm>
            <a:off x="8851225" y="6586776"/>
            <a:ext cx="1317903" cy="164663"/>
          </a:xfrm>
          <a:prstGeom prst="rect">
            <a:avLst/>
          </a:prstGeom>
          <a:noFill/>
          <a:ln/>
        </p:spPr>
        <p:txBody>
          <a:bodyPr wrap="none" lIns="0" tIns="0" rIns="0" bIns="0" rtlCol="0" anchor="t"/>
          <a:lstStyle/>
          <a:p>
            <a:pPr marL="0" indent="0" algn="l">
              <a:lnSpc>
                <a:spcPts val="1250"/>
              </a:lnSpc>
              <a:buNone/>
            </a:pPr>
            <a:r>
              <a:rPr lang="en-US" sz="1000" dirty="0">
                <a:solidFill>
                  <a:srgbClr val="000000"/>
                </a:solidFill>
                <a:latin typeface="Playfair Display Semi Bold" pitchFamily="34" charset="0"/>
                <a:ea typeface="Playfair Display Semi Bold" pitchFamily="34" charset="-122"/>
                <a:cs typeface="Playfair Display Semi Bold" pitchFamily="34" charset="-120"/>
              </a:rPr>
              <a:t>Visual Clarity</a:t>
            </a:r>
            <a:endParaRPr lang="en-US" sz="1000" dirty="0"/>
          </a:p>
        </p:txBody>
      </p:sp>
      <p:sp>
        <p:nvSpPr>
          <p:cNvPr id="18" name="Text 12"/>
          <p:cNvSpPr/>
          <p:nvPr/>
        </p:nvSpPr>
        <p:spPr>
          <a:xfrm>
            <a:off x="8851225" y="6785015"/>
            <a:ext cx="2508290" cy="258366"/>
          </a:xfrm>
          <a:prstGeom prst="rect">
            <a:avLst/>
          </a:prstGeom>
          <a:noFill/>
          <a:ln/>
        </p:spPr>
        <p:txBody>
          <a:bodyPr wrap="square" lIns="0" tIns="0" rIns="0" bIns="0" rtlCol="0" anchor="t"/>
          <a:lstStyle/>
          <a:p>
            <a:pPr marL="0" indent="0" algn="l">
              <a:lnSpc>
                <a:spcPts val="1000"/>
              </a:lnSpc>
              <a:buNone/>
            </a:pPr>
            <a:r>
              <a:rPr lang="en-US" sz="800" dirty="0">
                <a:solidFill>
                  <a:srgbClr val="000000"/>
                </a:solidFill>
                <a:latin typeface="Public Sans" pitchFamily="34" charset="0"/>
                <a:ea typeface="Public Sans" pitchFamily="34" charset="-122"/>
                <a:cs typeface="Public Sans" pitchFamily="34" charset="-120"/>
              </a:rPr>
              <a:t>Bar chart provides clear understanding of class distribution patterns</a:t>
            </a:r>
            <a:endParaRPr lang="en-US" sz="800" dirty="0"/>
          </a:p>
        </p:txBody>
      </p:sp>
      <p:sp>
        <p:nvSpPr>
          <p:cNvPr id="19" name="Text 13"/>
          <p:cNvSpPr/>
          <p:nvPr/>
        </p:nvSpPr>
        <p:spPr>
          <a:xfrm>
            <a:off x="3157895" y="7219355"/>
            <a:ext cx="8314611" cy="258366"/>
          </a:xfrm>
          <a:prstGeom prst="rect">
            <a:avLst/>
          </a:prstGeom>
          <a:noFill/>
          <a:ln/>
        </p:spPr>
        <p:txBody>
          <a:bodyPr wrap="square" lIns="0" tIns="0" rIns="0" bIns="0" rtlCol="0" anchor="t"/>
          <a:lstStyle/>
          <a:p>
            <a:pPr marL="0" indent="0" algn="l">
              <a:lnSpc>
                <a:spcPts val="1000"/>
              </a:lnSpc>
              <a:buNone/>
            </a:pPr>
            <a:r>
              <a:rPr lang="en-US" sz="800" dirty="0">
                <a:solidFill>
                  <a:srgbClr val="6F655D"/>
                </a:solidFill>
                <a:latin typeface="Public Sans" pitchFamily="34" charset="0"/>
                <a:ea typeface="Public Sans" pitchFamily="34" charset="-122"/>
                <a:cs typeface="Public Sans" pitchFamily="34" charset="-120"/>
              </a:rPr>
              <a:t>The visualisation is performed using matplotlib to create a bar chart showing the distribution of dropout and retained students. This visual representation aids in understanding the dataset and model results. The counts are obtained by grouping the DataFrame by dropout status and collecting the count values.</a:t>
            </a:r>
            <a:endParaRPr lang="en-US" sz="800" dirty="0"/>
          </a:p>
        </p:txBody>
      </p:sp>
      <p:sp>
        <p:nvSpPr>
          <p:cNvPr id="20" name="Text 14"/>
          <p:cNvSpPr/>
          <p:nvPr/>
        </p:nvSpPr>
        <p:spPr>
          <a:xfrm>
            <a:off x="3157895" y="7540704"/>
            <a:ext cx="8314611" cy="387548"/>
          </a:xfrm>
          <a:prstGeom prst="rect">
            <a:avLst/>
          </a:prstGeom>
          <a:noFill/>
          <a:ln/>
        </p:spPr>
        <p:txBody>
          <a:bodyPr wrap="square" lIns="0" tIns="0" rIns="0" bIns="0" rtlCol="0" anchor="t"/>
          <a:lstStyle/>
          <a:p>
            <a:pPr marL="0" indent="0" algn="l">
              <a:lnSpc>
                <a:spcPts val="1000"/>
              </a:lnSpc>
              <a:buNone/>
            </a:pPr>
            <a:r>
              <a:rPr lang="en-US" sz="800" dirty="0">
                <a:solidFill>
                  <a:srgbClr val="6F655D"/>
                </a:solidFill>
                <a:latin typeface="Public Sans" pitchFamily="34" charset="0"/>
                <a:ea typeface="Public Sans" pitchFamily="34" charset="-122"/>
                <a:cs typeface="Public Sans" pitchFamily="34" charset="-120"/>
              </a:rPr>
              <a:t>The labels "Retained" and "Dropped Out" are used for the x-axis, while the count values are plotted on the y-axis. The chart title "Dropout vs Retained Students" clearly indicates the purpose of the visualisation. This type of visualisation is crucial for communicating findings to stakeholders and understanding the baseline distribution of the target variable.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81407" y="730925"/>
            <a:ext cx="7563445" cy="610433"/>
          </a:xfrm>
          <a:prstGeom prst="rect">
            <a:avLst/>
          </a:prstGeom>
          <a:noFill/>
          <a:ln/>
        </p:spPr>
        <p:txBody>
          <a:bodyPr wrap="none" lIns="0" tIns="0" rIns="0" bIns="0" rtlCol="0" anchor="t"/>
          <a:lstStyle/>
          <a:p>
            <a:pPr marL="0" indent="0" algn="l">
              <a:lnSpc>
                <a:spcPts val="4800"/>
              </a:lnSpc>
              <a:buNone/>
            </a:pPr>
            <a:r>
              <a:rPr lang="en-US" sz="3800" dirty="0">
                <a:solidFill>
                  <a:srgbClr val="4B6981"/>
                </a:solidFill>
                <a:latin typeface="Playfair Display Semi Bold" pitchFamily="34" charset="0"/>
                <a:ea typeface="Playfair Display Semi Bold" pitchFamily="34" charset="-122"/>
                <a:cs typeface="Playfair Display Semi Bold" pitchFamily="34" charset="-120"/>
              </a:rPr>
              <a:t>Conclusion and Future Directions</a:t>
            </a:r>
            <a:endParaRPr lang="en-US" sz="3800" dirty="0"/>
          </a:p>
        </p:txBody>
      </p:sp>
      <p:sp>
        <p:nvSpPr>
          <p:cNvPr id="3" name="Text 1"/>
          <p:cNvSpPr/>
          <p:nvPr/>
        </p:nvSpPr>
        <p:spPr>
          <a:xfrm>
            <a:off x="781407" y="1725930"/>
            <a:ext cx="13067586" cy="620316"/>
          </a:xfrm>
          <a:prstGeom prst="rect">
            <a:avLst/>
          </a:prstGeom>
          <a:noFill/>
          <a:ln/>
        </p:spPr>
        <p:txBody>
          <a:bodyPr wrap="square" lIns="0" tIns="0" rIns="0" bIns="0" rtlCol="0" anchor="t"/>
          <a:lstStyle/>
          <a:p>
            <a:pPr marL="0" indent="0" algn="l">
              <a:lnSpc>
                <a:spcPts val="2400"/>
              </a:lnSpc>
              <a:buNone/>
            </a:pPr>
            <a:r>
              <a:rPr lang="en-US" sz="1500" dirty="0">
                <a:solidFill>
                  <a:srgbClr val="6F655D"/>
                </a:solidFill>
                <a:latin typeface="Public Sans" pitchFamily="34" charset="0"/>
                <a:ea typeface="Public Sans" pitchFamily="34" charset="-122"/>
                <a:cs typeface="Public Sans" pitchFamily="34" charset="-120"/>
              </a:rPr>
              <a:t>In conclusion, this project successfully demonstrates the use of PySpark and machine learning techniques to predict student dropout risk. The implementation of a Random Forest classifier provides accurate predictions based on student data.</a:t>
            </a:r>
            <a:endParaRPr lang="en-US" sz="1500" dirty="0"/>
          </a:p>
        </p:txBody>
      </p:sp>
      <p:sp>
        <p:nvSpPr>
          <p:cNvPr id="4" name="Text 2"/>
          <p:cNvSpPr/>
          <p:nvPr/>
        </p:nvSpPr>
        <p:spPr>
          <a:xfrm>
            <a:off x="781407" y="2562582"/>
            <a:ext cx="13067586" cy="620316"/>
          </a:xfrm>
          <a:prstGeom prst="rect">
            <a:avLst/>
          </a:prstGeom>
          <a:noFill/>
          <a:ln/>
        </p:spPr>
        <p:txBody>
          <a:bodyPr wrap="square" lIns="0" tIns="0" rIns="0" bIns="0" rtlCol="0" anchor="t"/>
          <a:lstStyle/>
          <a:p>
            <a:pPr marL="0" indent="0" algn="l">
              <a:lnSpc>
                <a:spcPts val="2400"/>
              </a:lnSpc>
              <a:buNone/>
            </a:pPr>
            <a:r>
              <a:rPr lang="en-US" sz="1500" dirty="0">
                <a:solidFill>
                  <a:srgbClr val="6F655D"/>
                </a:solidFill>
                <a:latin typeface="Public Sans" pitchFamily="34" charset="0"/>
                <a:ea typeface="Public Sans" pitchFamily="34" charset="-122"/>
                <a:cs typeface="Public Sans" pitchFamily="34" charset="-120"/>
              </a:rPr>
              <a:t>The study highlights the importance of data preprocessing, including handling missing values and transforming categorical variables. These steps are essential for building an effective predictive model.</a:t>
            </a:r>
            <a:endParaRPr lang="en-US" sz="1500" dirty="0"/>
          </a:p>
        </p:txBody>
      </p:sp>
      <p:sp>
        <p:nvSpPr>
          <p:cNvPr id="5" name="Text 3"/>
          <p:cNvSpPr/>
          <p:nvPr/>
        </p:nvSpPr>
        <p:spPr>
          <a:xfrm>
            <a:off x="781407" y="3399234"/>
            <a:ext cx="13067586" cy="620316"/>
          </a:xfrm>
          <a:prstGeom prst="rect">
            <a:avLst/>
          </a:prstGeom>
          <a:noFill/>
          <a:ln/>
        </p:spPr>
        <p:txBody>
          <a:bodyPr wrap="square" lIns="0" tIns="0" rIns="0" bIns="0" rtlCol="0" anchor="t"/>
          <a:lstStyle/>
          <a:p>
            <a:pPr marL="0" indent="0" algn="l">
              <a:lnSpc>
                <a:spcPts val="2400"/>
              </a:lnSpc>
              <a:buNone/>
            </a:pPr>
            <a:r>
              <a:rPr lang="en-US" sz="1500" dirty="0">
                <a:solidFill>
                  <a:srgbClr val="6F655D"/>
                </a:solidFill>
                <a:latin typeface="Public Sans" pitchFamily="34" charset="0"/>
                <a:ea typeface="Public Sans" pitchFamily="34" charset="-122"/>
                <a:cs typeface="Public Sans" pitchFamily="34" charset="-120"/>
              </a:rPr>
              <a:t>The evaluation metrics indicate high model performance, although the limitations of the dataset must be acknowledged. Future work should focus on using larger and more diverse datasets to improve model generalisation.</a:t>
            </a:r>
            <a:endParaRPr lang="en-US" sz="1500" dirty="0"/>
          </a:p>
        </p:txBody>
      </p:sp>
      <p:pic>
        <p:nvPicPr>
          <p:cNvPr id="6" name="Image 0" descr="preencoded.png"/>
          <p:cNvPicPr>
            <a:picLocks noChangeAspect="1"/>
          </p:cNvPicPr>
          <p:nvPr/>
        </p:nvPicPr>
        <p:blipFill>
          <a:blip r:embed="rId3"/>
          <a:stretch>
            <a:fillRect/>
          </a:stretch>
        </p:blipFill>
        <p:spPr>
          <a:xfrm>
            <a:off x="781407" y="4235887"/>
            <a:ext cx="4355783" cy="781407"/>
          </a:xfrm>
          <a:prstGeom prst="rect">
            <a:avLst/>
          </a:prstGeom>
        </p:spPr>
      </p:pic>
      <p:sp>
        <p:nvSpPr>
          <p:cNvPr id="7" name="Text 4"/>
          <p:cNvSpPr/>
          <p:nvPr/>
        </p:nvSpPr>
        <p:spPr>
          <a:xfrm>
            <a:off x="976670" y="5209580"/>
            <a:ext cx="2442091" cy="305157"/>
          </a:xfrm>
          <a:prstGeom prst="rect">
            <a:avLst/>
          </a:prstGeom>
          <a:noFill/>
          <a:ln/>
        </p:spPr>
        <p:txBody>
          <a:bodyPr wrap="none" lIns="0" tIns="0" rIns="0" bIns="0" rtlCol="0" anchor="t"/>
          <a:lstStyle/>
          <a:p>
            <a:pPr marL="0" indent="0" algn="l">
              <a:lnSpc>
                <a:spcPts val="2400"/>
              </a:lnSpc>
              <a:buNone/>
            </a:pPr>
            <a:r>
              <a:rPr lang="en-US" sz="1900" dirty="0">
                <a:solidFill>
                  <a:srgbClr val="6F655D"/>
                </a:solidFill>
                <a:latin typeface="Playfair Display Semi Bold" pitchFamily="34" charset="0"/>
                <a:ea typeface="Playfair Display Semi Bold" pitchFamily="34" charset="-122"/>
                <a:cs typeface="Playfair Display Semi Bold" pitchFamily="34" charset="-120"/>
              </a:rPr>
              <a:t>Larger Datasets</a:t>
            </a:r>
            <a:endParaRPr lang="en-US" sz="1900" dirty="0"/>
          </a:p>
        </p:txBody>
      </p:sp>
      <p:sp>
        <p:nvSpPr>
          <p:cNvPr id="8" name="Text 5"/>
          <p:cNvSpPr/>
          <p:nvPr/>
        </p:nvSpPr>
        <p:spPr>
          <a:xfrm>
            <a:off x="976670" y="5630108"/>
            <a:ext cx="3965257" cy="310158"/>
          </a:xfrm>
          <a:prstGeom prst="rect">
            <a:avLst/>
          </a:prstGeom>
          <a:noFill/>
          <a:ln/>
        </p:spPr>
        <p:txBody>
          <a:bodyPr wrap="none" lIns="0" tIns="0" rIns="0" bIns="0" rtlCol="0" anchor="t"/>
          <a:lstStyle/>
          <a:p>
            <a:pPr marL="0" indent="0" algn="l">
              <a:lnSpc>
                <a:spcPts val="2400"/>
              </a:lnSpc>
              <a:buNone/>
            </a:pPr>
            <a:r>
              <a:rPr lang="en-US" sz="1500" dirty="0">
                <a:solidFill>
                  <a:srgbClr val="6F655D"/>
                </a:solidFill>
                <a:latin typeface="Public Sans" pitchFamily="34" charset="0"/>
                <a:ea typeface="Public Sans" pitchFamily="34" charset="-122"/>
                <a:cs typeface="Public Sans" pitchFamily="34" charset="-120"/>
              </a:rPr>
              <a:t>Expand to real-world institutional data</a:t>
            </a:r>
            <a:endParaRPr lang="en-US" sz="1500" dirty="0"/>
          </a:p>
        </p:txBody>
      </p:sp>
      <p:pic>
        <p:nvPicPr>
          <p:cNvPr id="9" name="Image 1" descr="preencoded.png"/>
          <p:cNvPicPr>
            <a:picLocks noChangeAspect="1"/>
          </p:cNvPicPr>
          <p:nvPr/>
        </p:nvPicPr>
        <p:blipFill>
          <a:blip r:embed="rId4"/>
          <a:stretch>
            <a:fillRect/>
          </a:stretch>
        </p:blipFill>
        <p:spPr>
          <a:xfrm>
            <a:off x="5137190" y="4235887"/>
            <a:ext cx="4355902" cy="781407"/>
          </a:xfrm>
          <a:prstGeom prst="rect">
            <a:avLst/>
          </a:prstGeom>
        </p:spPr>
      </p:pic>
      <p:sp>
        <p:nvSpPr>
          <p:cNvPr id="10" name="Text 6"/>
          <p:cNvSpPr/>
          <p:nvPr/>
        </p:nvSpPr>
        <p:spPr>
          <a:xfrm>
            <a:off x="5332452" y="5209580"/>
            <a:ext cx="2442091" cy="305157"/>
          </a:xfrm>
          <a:prstGeom prst="rect">
            <a:avLst/>
          </a:prstGeom>
          <a:noFill/>
          <a:ln/>
        </p:spPr>
        <p:txBody>
          <a:bodyPr wrap="none" lIns="0" tIns="0" rIns="0" bIns="0" rtlCol="0" anchor="t"/>
          <a:lstStyle/>
          <a:p>
            <a:pPr marL="0" indent="0" algn="l">
              <a:lnSpc>
                <a:spcPts val="2400"/>
              </a:lnSpc>
              <a:buNone/>
            </a:pPr>
            <a:r>
              <a:rPr lang="en-US" sz="1900" dirty="0">
                <a:solidFill>
                  <a:srgbClr val="6F655D"/>
                </a:solidFill>
                <a:latin typeface="Playfair Display Semi Bold" pitchFamily="34" charset="0"/>
                <a:ea typeface="Playfair Display Semi Bold" pitchFamily="34" charset="-122"/>
                <a:cs typeface="Playfair Display Semi Bold" pitchFamily="34" charset="-120"/>
              </a:rPr>
              <a:t>Additional Features</a:t>
            </a:r>
            <a:endParaRPr lang="en-US" sz="1900" dirty="0"/>
          </a:p>
        </p:txBody>
      </p:sp>
      <p:sp>
        <p:nvSpPr>
          <p:cNvPr id="11" name="Text 7"/>
          <p:cNvSpPr/>
          <p:nvPr/>
        </p:nvSpPr>
        <p:spPr>
          <a:xfrm>
            <a:off x="5332452" y="5630108"/>
            <a:ext cx="3965377" cy="310158"/>
          </a:xfrm>
          <a:prstGeom prst="rect">
            <a:avLst/>
          </a:prstGeom>
          <a:noFill/>
          <a:ln/>
        </p:spPr>
        <p:txBody>
          <a:bodyPr wrap="none" lIns="0" tIns="0" rIns="0" bIns="0" rtlCol="0" anchor="t"/>
          <a:lstStyle/>
          <a:p>
            <a:pPr marL="0" indent="0" algn="l">
              <a:lnSpc>
                <a:spcPts val="2400"/>
              </a:lnSpc>
              <a:buNone/>
            </a:pPr>
            <a:r>
              <a:rPr lang="en-US" sz="1500" dirty="0">
                <a:solidFill>
                  <a:srgbClr val="6F655D"/>
                </a:solidFill>
                <a:latin typeface="Public Sans" pitchFamily="34" charset="0"/>
                <a:ea typeface="Public Sans" pitchFamily="34" charset="-122"/>
                <a:cs typeface="Public Sans" pitchFamily="34" charset="-120"/>
              </a:rPr>
              <a:t>Incorporate socioeconomic factors</a:t>
            </a:r>
            <a:endParaRPr lang="en-US" sz="1500" dirty="0"/>
          </a:p>
        </p:txBody>
      </p:sp>
      <p:pic>
        <p:nvPicPr>
          <p:cNvPr id="12" name="Image 2" descr="preencoded.png"/>
          <p:cNvPicPr>
            <a:picLocks noChangeAspect="1"/>
          </p:cNvPicPr>
          <p:nvPr/>
        </p:nvPicPr>
        <p:blipFill>
          <a:blip r:embed="rId5"/>
          <a:stretch>
            <a:fillRect/>
          </a:stretch>
        </p:blipFill>
        <p:spPr>
          <a:xfrm>
            <a:off x="9493091" y="4235887"/>
            <a:ext cx="4355783" cy="781407"/>
          </a:xfrm>
          <a:prstGeom prst="rect">
            <a:avLst/>
          </a:prstGeom>
        </p:spPr>
      </p:pic>
      <p:sp>
        <p:nvSpPr>
          <p:cNvPr id="13" name="Text 8"/>
          <p:cNvSpPr/>
          <p:nvPr/>
        </p:nvSpPr>
        <p:spPr>
          <a:xfrm>
            <a:off x="9688354" y="5209580"/>
            <a:ext cx="2442091" cy="305157"/>
          </a:xfrm>
          <a:prstGeom prst="rect">
            <a:avLst/>
          </a:prstGeom>
          <a:noFill/>
          <a:ln/>
        </p:spPr>
        <p:txBody>
          <a:bodyPr wrap="none" lIns="0" tIns="0" rIns="0" bIns="0" rtlCol="0" anchor="t"/>
          <a:lstStyle/>
          <a:p>
            <a:pPr marL="0" indent="0" algn="l">
              <a:lnSpc>
                <a:spcPts val="2400"/>
              </a:lnSpc>
              <a:buNone/>
            </a:pPr>
            <a:r>
              <a:rPr lang="en-US" sz="1900" dirty="0">
                <a:solidFill>
                  <a:srgbClr val="6F655D"/>
                </a:solidFill>
                <a:latin typeface="Playfair Display Semi Bold" pitchFamily="34" charset="0"/>
                <a:ea typeface="Playfair Display Semi Bold" pitchFamily="34" charset="-122"/>
                <a:cs typeface="Playfair Display Semi Bold" pitchFamily="34" charset="-120"/>
              </a:rPr>
              <a:t>Model Validation</a:t>
            </a:r>
            <a:endParaRPr lang="en-US" sz="1900" dirty="0"/>
          </a:p>
        </p:txBody>
      </p:sp>
      <p:sp>
        <p:nvSpPr>
          <p:cNvPr id="14" name="Text 9"/>
          <p:cNvSpPr/>
          <p:nvPr/>
        </p:nvSpPr>
        <p:spPr>
          <a:xfrm>
            <a:off x="9688354" y="5630108"/>
            <a:ext cx="3965257" cy="310158"/>
          </a:xfrm>
          <a:prstGeom prst="rect">
            <a:avLst/>
          </a:prstGeom>
          <a:noFill/>
          <a:ln/>
        </p:spPr>
        <p:txBody>
          <a:bodyPr wrap="none" lIns="0" tIns="0" rIns="0" bIns="0" rtlCol="0" anchor="t"/>
          <a:lstStyle/>
          <a:p>
            <a:pPr marL="0" indent="0" algn="l">
              <a:lnSpc>
                <a:spcPts val="2400"/>
              </a:lnSpc>
              <a:buNone/>
            </a:pPr>
            <a:r>
              <a:rPr lang="en-US" sz="1500" dirty="0">
                <a:solidFill>
                  <a:srgbClr val="6F655D"/>
                </a:solidFill>
                <a:latin typeface="Public Sans" pitchFamily="34" charset="0"/>
                <a:ea typeface="Public Sans" pitchFamily="34" charset="-122"/>
                <a:cs typeface="Public Sans" pitchFamily="34" charset="-120"/>
              </a:rPr>
              <a:t>Cross-validation techniques</a:t>
            </a:r>
            <a:endParaRPr lang="en-US" sz="1500" dirty="0"/>
          </a:p>
        </p:txBody>
      </p:sp>
      <p:sp>
        <p:nvSpPr>
          <p:cNvPr id="15" name="Text 10"/>
          <p:cNvSpPr/>
          <p:nvPr/>
        </p:nvSpPr>
        <p:spPr>
          <a:xfrm>
            <a:off x="781407" y="6351865"/>
            <a:ext cx="13067586" cy="310158"/>
          </a:xfrm>
          <a:prstGeom prst="rect">
            <a:avLst/>
          </a:prstGeom>
          <a:noFill/>
          <a:ln/>
        </p:spPr>
        <p:txBody>
          <a:bodyPr wrap="none" lIns="0" tIns="0" rIns="0" bIns="0" rtlCol="0" anchor="t"/>
          <a:lstStyle/>
          <a:p>
            <a:pPr marL="0" indent="0" algn="l">
              <a:lnSpc>
                <a:spcPts val="2400"/>
              </a:lnSpc>
              <a:buNone/>
            </a:pPr>
            <a:r>
              <a:rPr lang="en-US" sz="1500" dirty="0">
                <a:solidFill>
                  <a:srgbClr val="6F655D"/>
                </a:solidFill>
                <a:latin typeface="Public Sans" pitchFamily="34" charset="0"/>
                <a:ea typeface="Public Sans" pitchFamily="34" charset="-122"/>
                <a:cs typeface="Public Sans" pitchFamily="34" charset="-120"/>
              </a:rPr>
              <a:t>The integration of visualisation techniques enhances the interpretability of the results, making it easier to communicate findings to stakeholders.</a:t>
            </a:r>
            <a:endParaRPr lang="en-US" sz="1500" dirty="0"/>
          </a:p>
        </p:txBody>
      </p:sp>
      <p:sp>
        <p:nvSpPr>
          <p:cNvPr id="16" name="Text 11"/>
          <p:cNvSpPr/>
          <p:nvPr/>
        </p:nvSpPr>
        <p:spPr>
          <a:xfrm>
            <a:off x="781407" y="6878360"/>
            <a:ext cx="13067586" cy="620316"/>
          </a:xfrm>
          <a:prstGeom prst="rect">
            <a:avLst/>
          </a:prstGeom>
          <a:noFill/>
          <a:ln/>
        </p:spPr>
        <p:txBody>
          <a:bodyPr wrap="square" lIns="0" tIns="0" rIns="0" bIns="0" rtlCol="0" anchor="t"/>
          <a:lstStyle/>
          <a:p>
            <a:pPr marL="0" indent="0" algn="l">
              <a:lnSpc>
                <a:spcPts val="2400"/>
              </a:lnSpc>
              <a:buNone/>
            </a:pPr>
            <a:r>
              <a:rPr lang="en-US" sz="1500" dirty="0">
                <a:solidFill>
                  <a:srgbClr val="6F655D"/>
                </a:solidFill>
                <a:latin typeface="Public Sans" pitchFamily="34" charset="0"/>
                <a:ea typeface="Public Sans" pitchFamily="34" charset="-122"/>
                <a:cs typeface="Public Sans" pitchFamily="34" charset="-120"/>
              </a:rPr>
              <a:t>Overall, this project serves as a foundation for developing advanced predictive analytics solutions in the education sector. By leveraging big data technologies, institutions can proactively identify at-risk students and implement strategies to improve retention and academic success.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576507"/>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4B6981"/>
                </a:solidFill>
                <a:latin typeface="Playfair Display Semi Bold" pitchFamily="34" charset="0"/>
                <a:ea typeface="Playfair Display Semi Bold" pitchFamily="34" charset="-122"/>
                <a:cs typeface="Playfair Display Semi Bold" pitchFamily="34" charset="-120"/>
              </a:rPr>
              <a:t>Key Takeaways</a:t>
            </a:r>
            <a:endParaRPr lang="en-US" sz="3900" dirty="0"/>
          </a:p>
        </p:txBody>
      </p:sp>
      <p:sp>
        <p:nvSpPr>
          <p:cNvPr id="3" name="Shape 1"/>
          <p:cNvSpPr/>
          <p:nvPr/>
        </p:nvSpPr>
        <p:spPr>
          <a:xfrm>
            <a:off x="793790" y="2494240"/>
            <a:ext cx="4215289" cy="2111335"/>
          </a:xfrm>
          <a:prstGeom prst="roundRect">
            <a:avLst>
              <a:gd name="adj" fmla="val 3948"/>
            </a:avLst>
          </a:prstGeom>
          <a:solidFill>
            <a:srgbClr val="E1C2C2">
              <a:alpha val="50000"/>
            </a:srgbClr>
          </a:solidFill>
          <a:ln w="7620">
            <a:solidFill>
              <a:srgbClr val="C7A8A8"/>
            </a:solidFill>
            <a:prstDash val="solid"/>
          </a:ln>
          <a:effectLst>
            <a:outerShdw dist="25400" dir="2700000" algn="bl" rotWithShape="0">
              <a:srgbClr val="C7A8A8">
                <a:alpha val="100000"/>
              </a:srgbClr>
            </a:outerShdw>
          </a:effectLst>
        </p:spPr>
      </p:sp>
      <p:sp>
        <p:nvSpPr>
          <p:cNvPr id="4" name="Text 2"/>
          <p:cNvSpPr/>
          <p:nvPr/>
        </p:nvSpPr>
        <p:spPr>
          <a:xfrm>
            <a:off x="999768" y="270021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layfair Display Semi Bold" pitchFamily="34" charset="0"/>
                <a:ea typeface="Playfair Display Semi Bold" pitchFamily="34" charset="-122"/>
                <a:cs typeface="Playfair Display Semi Bold" pitchFamily="34" charset="-120"/>
              </a:rPr>
              <a:t>Technical Excellence</a:t>
            </a:r>
            <a:endParaRPr lang="en-US" sz="1950" dirty="0"/>
          </a:p>
        </p:txBody>
      </p:sp>
      <p:sp>
        <p:nvSpPr>
          <p:cNvPr id="5" name="Text 3"/>
          <p:cNvSpPr/>
          <p:nvPr/>
        </p:nvSpPr>
        <p:spPr>
          <a:xfrm>
            <a:off x="999768" y="3129439"/>
            <a:ext cx="3803333"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Public Sans" pitchFamily="34" charset="0"/>
                <a:ea typeface="Public Sans" pitchFamily="34" charset="-122"/>
                <a:cs typeface="Public Sans" pitchFamily="34" charset="-120"/>
              </a:rPr>
              <a:t>PySpark implementation demonstrates big data processing capabilities with Random Forest classifier achieving perfect ROC-AUC and F1-scores</a:t>
            </a:r>
            <a:endParaRPr lang="en-US" sz="1550" dirty="0"/>
          </a:p>
        </p:txBody>
      </p:sp>
      <p:sp>
        <p:nvSpPr>
          <p:cNvPr id="6" name="Shape 4"/>
          <p:cNvSpPr/>
          <p:nvPr/>
        </p:nvSpPr>
        <p:spPr>
          <a:xfrm>
            <a:off x="5207437" y="2494240"/>
            <a:ext cx="4215408" cy="2111335"/>
          </a:xfrm>
          <a:prstGeom prst="roundRect">
            <a:avLst>
              <a:gd name="adj" fmla="val 3948"/>
            </a:avLst>
          </a:prstGeom>
          <a:solidFill>
            <a:srgbClr val="CCC4EC">
              <a:alpha val="50000"/>
            </a:srgbClr>
          </a:solidFill>
          <a:ln w="7620">
            <a:solidFill>
              <a:srgbClr val="B2AAD2"/>
            </a:solidFill>
            <a:prstDash val="solid"/>
          </a:ln>
          <a:effectLst>
            <a:outerShdw dist="25400" dir="2700000" algn="bl" rotWithShape="0">
              <a:srgbClr val="B2AAD2">
                <a:alpha val="100000"/>
              </a:srgbClr>
            </a:outerShdw>
          </a:effectLst>
        </p:spPr>
      </p:sp>
      <p:sp>
        <p:nvSpPr>
          <p:cNvPr id="7" name="Text 5"/>
          <p:cNvSpPr/>
          <p:nvPr/>
        </p:nvSpPr>
        <p:spPr>
          <a:xfrm>
            <a:off x="5413415" y="270021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layfair Display Semi Bold" pitchFamily="34" charset="0"/>
                <a:ea typeface="Playfair Display Semi Bold" pitchFamily="34" charset="-122"/>
                <a:cs typeface="Playfair Display Semi Bold" pitchFamily="34" charset="-120"/>
              </a:rPr>
              <a:t>Practical Application</a:t>
            </a:r>
            <a:endParaRPr lang="en-US" sz="1950" dirty="0"/>
          </a:p>
        </p:txBody>
      </p:sp>
      <p:sp>
        <p:nvSpPr>
          <p:cNvPr id="8" name="Text 6"/>
          <p:cNvSpPr/>
          <p:nvPr/>
        </p:nvSpPr>
        <p:spPr>
          <a:xfrm>
            <a:off x="5413415" y="3129439"/>
            <a:ext cx="3803452"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Public Sans" pitchFamily="34" charset="0"/>
                <a:ea typeface="Public Sans" pitchFamily="34" charset="-122"/>
                <a:cs typeface="Public Sans" pitchFamily="34" charset="-120"/>
              </a:rPr>
              <a:t>Model enables early intervention strategies through predictive analytics, helping institutions reduce dropout rates</a:t>
            </a:r>
            <a:endParaRPr lang="en-US" sz="1550" dirty="0"/>
          </a:p>
        </p:txBody>
      </p:sp>
      <p:sp>
        <p:nvSpPr>
          <p:cNvPr id="9" name="Shape 7"/>
          <p:cNvSpPr/>
          <p:nvPr/>
        </p:nvSpPr>
        <p:spPr>
          <a:xfrm>
            <a:off x="9621203" y="2494240"/>
            <a:ext cx="4215289" cy="2111335"/>
          </a:xfrm>
          <a:prstGeom prst="roundRect">
            <a:avLst>
              <a:gd name="adj" fmla="val 3948"/>
            </a:avLst>
          </a:prstGeom>
          <a:solidFill>
            <a:srgbClr val="B4DAE4">
              <a:alpha val="50000"/>
            </a:srgbClr>
          </a:solidFill>
          <a:ln w="7620">
            <a:solidFill>
              <a:srgbClr val="9AC0CA"/>
            </a:solidFill>
            <a:prstDash val="solid"/>
          </a:ln>
          <a:effectLst>
            <a:outerShdw dist="25400" dir="2700000" algn="bl" rotWithShape="0">
              <a:srgbClr val="9AC0CA">
                <a:alpha val="100000"/>
              </a:srgbClr>
            </a:outerShdw>
          </a:effectLst>
        </p:spPr>
      </p:sp>
      <p:sp>
        <p:nvSpPr>
          <p:cNvPr id="10" name="Text 8"/>
          <p:cNvSpPr/>
          <p:nvPr/>
        </p:nvSpPr>
        <p:spPr>
          <a:xfrm>
            <a:off x="9827181" y="270021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layfair Display Semi Bold" pitchFamily="34" charset="0"/>
                <a:ea typeface="Playfair Display Semi Bold" pitchFamily="34" charset="-122"/>
                <a:cs typeface="Playfair Display Semi Bold" pitchFamily="34" charset="-120"/>
              </a:rPr>
              <a:t>Data Preprocessing</a:t>
            </a:r>
            <a:endParaRPr lang="en-US" sz="1950" dirty="0"/>
          </a:p>
        </p:txBody>
      </p:sp>
      <p:sp>
        <p:nvSpPr>
          <p:cNvPr id="11" name="Text 9"/>
          <p:cNvSpPr/>
          <p:nvPr/>
        </p:nvSpPr>
        <p:spPr>
          <a:xfrm>
            <a:off x="9827181" y="3129439"/>
            <a:ext cx="3803333"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Public Sans" pitchFamily="34" charset="0"/>
                <a:ea typeface="Public Sans" pitchFamily="34" charset="-122"/>
                <a:cs typeface="Public Sans" pitchFamily="34" charset="-120"/>
              </a:rPr>
              <a:t>Comprehensive handling of missing values and categorical transformations ensures data quality for machine learning</a:t>
            </a:r>
            <a:endParaRPr lang="en-US" sz="1550" dirty="0"/>
          </a:p>
        </p:txBody>
      </p:sp>
      <p:sp>
        <p:nvSpPr>
          <p:cNvPr id="12" name="Shape 10"/>
          <p:cNvSpPr/>
          <p:nvPr/>
        </p:nvSpPr>
        <p:spPr>
          <a:xfrm>
            <a:off x="793790" y="4828818"/>
            <a:ext cx="4215289" cy="1824276"/>
          </a:xfrm>
          <a:prstGeom prst="roundRect">
            <a:avLst>
              <a:gd name="adj" fmla="val 4569"/>
            </a:avLst>
          </a:prstGeom>
          <a:solidFill>
            <a:srgbClr val="FFFAF6"/>
          </a:solidFill>
          <a:ln w="22860">
            <a:solidFill>
              <a:srgbClr val="E1C2C2"/>
            </a:solidFill>
            <a:prstDash val="solid"/>
          </a:ln>
          <a:effectLst>
            <a:outerShdw dist="25400" dir="2700000" algn="bl" rotWithShape="0">
              <a:srgbClr val="E1C2C2">
                <a:alpha val="100000"/>
              </a:srgbClr>
            </a:outerShdw>
          </a:effectLst>
        </p:spPr>
      </p:sp>
      <p:sp>
        <p:nvSpPr>
          <p:cNvPr id="13" name="Text 11"/>
          <p:cNvSpPr/>
          <p:nvPr/>
        </p:nvSpPr>
        <p:spPr>
          <a:xfrm>
            <a:off x="1015008" y="505003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6F655D"/>
                </a:solidFill>
                <a:latin typeface="Playfair Display Semi Bold" pitchFamily="34" charset="0"/>
                <a:ea typeface="Playfair Display Semi Bold" pitchFamily="34" charset="-122"/>
                <a:cs typeface="Playfair Display Semi Bold" pitchFamily="34" charset="-120"/>
              </a:rPr>
              <a:t>Scalability</a:t>
            </a:r>
            <a:endParaRPr lang="en-US" sz="1950" dirty="0"/>
          </a:p>
        </p:txBody>
      </p:sp>
      <p:sp>
        <p:nvSpPr>
          <p:cNvPr id="14" name="Text 12"/>
          <p:cNvSpPr/>
          <p:nvPr/>
        </p:nvSpPr>
        <p:spPr>
          <a:xfrm>
            <a:off x="1015008" y="5479256"/>
            <a:ext cx="3772853" cy="95261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PySpark framework ensures solution is suitable for real-world big data environments</a:t>
            </a:r>
            <a:endParaRPr lang="en-US" sz="1550" dirty="0"/>
          </a:p>
        </p:txBody>
      </p:sp>
      <p:sp>
        <p:nvSpPr>
          <p:cNvPr id="15" name="Shape 13"/>
          <p:cNvSpPr/>
          <p:nvPr/>
        </p:nvSpPr>
        <p:spPr>
          <a:xfrm>
            <a:off x="5207437" y="4828818"/>
            <a:ext cx="4215408" cy="1824276"/>
          </a:xfrm>
          <a:prstGeom prst="roundRect">
            <a:avLst>
              <a:gd name="adj" fmla="val 4569"/>
            </a:avLst>
          </a:prstGeom>
          <a:solidFill>
            <a:srgbClr val="FFFAF6"/>
          </a:solidFill>
          <a:ln w="22860">
            <a:solidFill>
              <a:srgbClr val="CCC4EC"/>
            </a:solidFill>
            <a:prstDash val="solid"/>
          </a:ln>
          <a:effectLst>
            <a:outerShdw dist="25400" dir="2700000" algn="bl" rotWithShape="0">
              <a:srgbClr val="CCC4EC">
                <a:alpha val="100000"/>
              </a:srgbClr>
            </a:outerShdw>
          </a:effectLst>
        </p:spPr>
      </p:sp>
      <p:sp>
        <p:nvSpPr>
          <p:cNvPr id="16" name="Text 14"/>
          <p:cNvSpPr/>
          <p:nvPr/>
        </p:nvSpPr>
        <p:spPr>
          <a:xfrm>
            <a:off x="5428655" y="505003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6F655D"/>
                </a:solidFill>
                <a:latin typeface="Playfair Display Semi Bold" pitchFamily="34" charset="0"/>
                <a:ea typeface="Playfair Display Semi Bold" pitchFamily="34" charset="-122"/>
                <a:cs typeface="Playfair Display Semi Bold" pitchFamily="34" charset="-120"/>
              </a:rPr>
              <a:t>Visualisation</a:t>
            </a:r>
            <a:endParaRPr lang="en-US" sz="1950" dirty="0"/>
          </a:p>
        </p:txBody>
      </p:sp>
      <p:sp>
        <p:nvSpPr>
          <p:cNvPr id="17" name="Text 15"/>
          <p:cNvSpPr/>
          <p:nvPr/>
        </p:nvSpPr>
        <p:spPr>
          <a:xfrm>
            <a:off x="5428655" y="5479256"/>
            <a:ext cx="3772972" cy="95261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Matplotlib integration enhances interpretability and stakeholder communication</a:t>
            </a:r>
            <a:endParaRPr lang="en-US" sz="1550" dirty="0"/>
          </a:p>
        </p:txBody>
      </p:sp>
      <p:sp>
        <p:nvSpPr>
          <p:cNvPr id="18" name="Shape 16"/>
          <p:cNvSpPr/>
          <p:nvPr/>
        </p:nvSpPr>
        <p:spPr>
          <a:xfrm>
            <a:off x="9621203" y="4828818"/>
            <a:ext cx="4215289" cy="1824276"/>
          </a:xfrm>
          <a:prstGeom prst="roundRect">
            <a:avLst>
              <a:gd name="adj" fmla="val 4569"/>
            </a:avLst>
          </a:prstGeom>
          <a:solidFill>
            <a:srgbClr val="FFFAF6"/>
          </a:solidFill>
          <a:ln w="22860">
            <a:solidFill>
              <a:srgbClr val="B4DAE4"/>
            </a:solidFill>
            <a:prstDash val="solid"/>
          </a:ln>
          <a:effectLst>
            <a:outerShdw dist="25400" dir="2700000" algn="bl" rotWithShape="0">
              <a:srgbClr val="B4DAE4">
                <a:alpha val="100000"/>
              </a:srgbClr>
            </a:outerShdw>
          </a:effectLst>
        </p:spPr>
      </p:sp>
      <p:sp>
        <p:nvSpPr>
          <p:cNvPr id="19" name="Text 17"/>
          <p:cNvSpPr/>
          <p:nvPr/>
        </p:nvSpPr>
        <p:spPr>
          <a:xfrm>
            <a:off x="9842421" y="505003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6F655D"/>
                </a:solidFill>
                <a:latin typeface="Playfair Display Semi Bold" pitchFamily="34" charset="0"/>
                <a:ea typeface="Playfair Display Semi Bold" pitchFamily="34" charset="-122"/>
                <a:cs typeface="Playfair Display Semi Bold" pitchFamily="34" charset="-120"/>
              </a:rPr>
              <a:t>Foundation</a:t>
            </a:r>
            <a:endParaRPr lang="en-US" sz="1950" dirty="0"/>
          </a:p>
        </p:txBody>
      </p:sp>
      <p:sp>
        <p:nvSpPr>
          <p:cNvPr id="20" name="Text 18"/>
          <p:cNvSpPr/>
          <p:nvPr/>
        </p:nvSpPr>
        <p:spPr>
          <a:xfrm>
            <a:off x="9842421" y="5479256"/>
            <a:ext cx="3772853" cy="63507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Project serves as basis for advanced predictive analytics in education sector</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880229"/>
            <a:ext cx="8508325" cy="620078"/>
          </a:xfrm>
          <a:prstGeom prst="rect">
            <a:avLst/>
          </a:prstGeom>
          <a:noFill/>
          <a:ln/>
        </p:spPr>
        <p:txBody>
          <a:bodyPr wrap="none" lIns="0" tIns="0" rIns="0" bIns="0" rtlCol="0" anchor="t"/>
          <a:lstStyle/>
          <a:p>
            <a:pPr marL="0" indent="0" algn="l">
              <a:lnSpc>
                <a:spcPts val="4850"/>
              </a:lnSpc>
              <a:buNone/>
            </a:pPr>
            <a:r>
              <a:rPr lang="en-US" sz="3900" dirty="0">
                <a:solidFill>
                  <a:srgbClr val="4B6981"/>
                </a:solidFill>
                <a:latin typeface="Playfair Display Semi Bold" pitchFamily="34" charset="0"/>
                <a:ea typeface="Playfair Display Semi Bold" pitchFamily="34" charset="-122"/>
                <a:cs typeface="Playfair Display Semi Bold" pitchFamily="34" charset="-120"/>
              </a:rPr>
              <a:t>References and Code Implementation</a:t>
            </a:r>
            <a:endParaRPr lang="en-US" sz="3900" dirty="0"/>
          </a:p>
        </p:txBody>
      </p:sp>
      <p:sp>
        <p:nvSpPr>
          <p:cNvPr id="3" name="Text 1"/>
          <p:cNvSpPr/>
          <p:nvPr/>
        </p:nvSpPr>
        <p:spPr>
          <a:xfrm>
            <a:off x="793790" y="1579602"/>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4B6981"/>
                </a:solidFill>
                <a:latin typeface="Playfair Display Semi Bold" pitchFamily="34" charset="0"/>
                <a:ea typeface="Playfair Display Semi Bold" pitchFamily="34" charset="-122"/>
                <a:cs typeface="Playfair Display Semi Bold" pitchFamily="34" charset="-120"/>
              </a:rPr>
              <a:t>References</a:t>
            </a:r>
            <a:endParaRPr lang="en-US" sz="2300" dirty="0"/>
          </a:p>
        </p:txBody>
      </p:sp>
      <p:sp>
        <p:nvSpPr>
          <p:cNvPr id="4" name="Text 2"/>
          <p:cNvSpPr/>
          <p:nvPr/>
        </p:nvSpPr>
        <p:spPr>
          <a:xfrm>
            <a:off x="793790" y="2249329"/>
            <a:ext cx="13042821" cy="147839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6F655D"/>
                </a:solidFill>
                <a:latin typeface="Public Sans" pitchFamily="34" charset="0"/>
                <a:ea typeface="Public Sans" pitchFamily="34" charset="-122"/>
                <a:cs typeface="Public Sans" pitchFamily="34" charset="-120"/>
              </a:rPr>
              <a:t>Han, J., Kamber, M., &amp; Pei, J. (2011). Data Mining: Concepts and Techniques.</a:t>
            </a:r>
            <a:endParaRPr lang="en-US" sz="1550" dirty="0"/>
          </a:p>
          <a:p>
            <a:pPr marL="342900" indent="-342900" algn="l">
              <a:lnSpc>
                <a:spcPts val="2500"/>
              </a:lnSpc>
              <a:buSzPct val="100000"/>
              <a:buChar char="•"/>
            </a:pPr>
            <a:r>
              <a:rPr lang="en-US" sz="1550" dirty="0">
                <a:solidFill>
                  <a:srgbClr val="6F655D"/>
                </a:solidFill>
                <a:latin typeface="Public Sans" pitchFamily="34" charset="0"/>
                <a:ea typeface="Public Sans" pitchFamily="34" charset="-122"/>
                <a:cs typeface="Public Sans" pitchFamily="34" charset="-120"/>
              </a:rPr>
              <a:t>Apache Spark Documentation. (2026).</a:t>
            </a:r>
            <a:endParaRPr lang="en-US" sz="1550" dirty="0"/>
          </a:p>
          <a:p>
            <a:pPr marL="342900" indent="-342900" algn="l">
              <a:lnSpc>
                <a:spcPts val="2500"/>
              </a:lnSpc>
              <a:buSzPct val="100000"/>
              <a:buChar char="•"/>
            </a:pPr>
            <a:r>
              <a:rPr lang="en-US" sz="1550" dirty="0">
                <a:solidFill>
                  <a:srgbClr val="6F655D"/>
                </a:solidFill>
                <a:latin typeface="Public Sans" pitchFamily="34" charset="0"/>
                <a:ea typeface="Public Sans" pitchFamily="34" charset="-122"/>
                <a:cs typeface="Public Sans" pitchFamily="34" charset="-120"/>
              </a:rPr>
              <a:t>Scikit-learn Documentation. (2026).</a:t>
            </a:r>
            <a:endParaRPr lang="en-US" sz="1550" dirty="0"/>
          </a:p>
          <a:p>
            <a:pPr marL="342900" indent="-342900" algn="l">
              <a:lnSpc>
                <a:spcPts val="2500"/>
              </a:lnSpc>
              <a:buSzPct val="100000"/>
              <a:buChar char="•"/>
            </a:pPr>
            <a:r>
              <a:rPr lang="en-US" sz="1550" dirty="0">
                <a:solidFill>
                  <a:srgbClr val="6F655D"/>
                </a:solidFill>
                <a:latin typeface="Public Sans" pitchFamily="34" charset="0"/>
                <a:ea typeface="Public Sans" pitchFamily="34" charset="-122"/>
                <a:cs typeface="Public Sans" pitchFamily="34" charset="-120"/>
              </a:rPr>
              <a:t>Educational Data Mining Research Papers.</a:t>
            </a:r>
            <a:endParaRPr lang="en-US" sz="1550" dirty="0"/>
          </a:p>
        </p:txBody>
      </p:sp>
      <p:sp>
        <p:nvSpPr>
          <p:cNvPr id="5" name="Text 3"/>
          <p:cNvSpPr/>
          <p:nvPr/>
        </p:nvSpPr>
        <p:spPr>
          <a:xfrm>
            <a:off x="793790" y="4025384"/>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4B6981"/>
                </a:solidFill>
                <a:latin typeface="Playfair Display Semi Bold" pitchFamily="34" charset="0"/>
                <a:ea typeface="Playfair Display Semi Bold" pitchFamily="34" charset="-122"/>
                <a:cs typeface="Playfair Display Semi Bold" pitchFamily="34" charset="-120"/>
              </a:rPr>
              <a:t>Code Implementation</a:t>
            </a:r>
            <a:endParaRPr lang="en-US" sz="2300" dirty="0"/>
          </a:p>
        </p:txBody>
      </p:sp>
      <p:sp>
        <p:nvSpPr>
          <p:cNvPr id="6" name="Text 4"/>
          <p:cNvSpPr/>
          <p:nvPr/>
        </p:nvSpPr>
        <p:spPr>
          <a:xfrm>
            <a:off x="793790" y="4695111"/>
            <a:ext cx="13042821" cy="1270159"/>
          </a:xfrm>
          <a:prstGeom prst="rect">
            <a:avLst/>
          </a:prstGeom>
          <a:noFill/>
          <a:ln/>
        </p:spPr>
        <p:txBody>
          <a:bodyPr wrap="square" lIns="0" tIns="0" rIns="0" bIns="0" rtlCol="0" anchor="t"/>
          <a:lstStyle/>
          <a:p>
            <a:pPr marL="0" indent="0" algn="l">
              <a:lnSpc>
                <a:spcPts val="2500"/>
              </a:lnSpc>
              <a:buNone/>
            </a:pPr>
            <a:r>
              <a:rPr lang="en-US" sz="1550" dirty="0">
                <a:solidFill>
                  <a:srgbClr val="6F655D"/>
                </a:solidFill>
                <a:latin typeface="Public Sans" pitchFamily="34" charset="0"/>
                <a:ea typeface="Public Sans" pitchFamily="34" charset="-122"/>
                <a:cs typeface="Public Sans" pitchFamily="34" charset="-120"/>
              </a:rPr>
              <a:t>The complete implementation is provided in the appendix section of this report. Key code segments include SparkSession initialisation, dataset creation, data cleaning with mean imputation, StringIndexer transformations for categorical variables, VectorAssembler for feature vector creation, Random Forest classifier training, model evaluation using ROC-AUC and F1-score metrics, and matplotlib visualisation for dropout distribution analysis.</a:t>
            </a:r>
            <a:endParaRPr lang="en-US" sz="1550" dirty="0"/>
          </a:p>
        </p:txBody>
      </p:sp>
      <p:sp>
        <p:nvSpPr>
          <p:cNvPr id="7" name="Shape 5"/>
          <p:cNvSpPr/>
          <p:nvPr/>
        </p:nvSpPr>
        <p:spPr>
          <a:xfrm>
            <a:off x="793790" y="6188512"/>
            <a:ext cx="13042821" cy="1160740"/>
          </a:xfrm>
          <a:prstGeom prst="roundRect">
            <a:avLst>
              <a:gd name="adj" fmla="val 7182"/>
            </a:avLst>
          </a:prstGeom>
          <a:solidFill>
            <a:srgbClr val="E6CCCC"/>
          </a:solidFill>
          <a:ln/>
        </p:spPr>
      </p:sp>
      <p:pic>
        <p:nvPicPr>
          <p:cNvPr id="8" name="Image 0" descr="preencoded.png"/>
          <p:cNvPicPr>
            <a:picLocks noChangeAspect="1"/>
          </p:cNvPicPr>
          <p:nvPr/>
        </p:nvPicPr>
        <p:blipFill>
          <a:blip r:embed="rId3"/>
          <a:stretch>
            <a:fillRect/>
          </a:stretch>
        </p:blipFill>
        <p:spPr>
          <a:xfrm>
            <a:off x="992148" y="6491407"/>
            <a:ext cx="248007" cy="198358"/>
          </a:xfrm>
          <a:prstGeom prst="rect">
            <a:avLst/>
          </a:prstGeom>
        </p:spPr>
      </p:pic>
      <p:sp>
        <p:nvSpPr>
          <p:cNvPr id="9" name="Text 6"/>
          <p:cNvSpPr/>
          <p:nvPr/>
        </p:nvSpPr>
        <p:spPr>
          <a:xfrm>
            <a:off x="1438513" y="6436400"/>
            <a:ext cx="12199739"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Public Sans" pitchFamily="34" charset="0"/>
                <a:ea typeface="Public Sans" pitchFamily="34" charset="-122"/>
                <a:cs typeface="Public Sans" pitchFamily="34" charset="-120"/>
              </a:rPr>
              <a:t>Note:</a:t>
            </a:r>
            <a:r>
              <a:rPr lang="en-US" sz="1550" dirty="0">
                <a:solidFill>
                  <a:srgbClr val="000000"/>
                </a:solidFill>
                <a:latin typeface="Public Sans" pitchFamily="34" charset="0"/>
                <a:ea typeface="Public Sans" pitchFamily="34" charset="-122"/>
                <a:cs typeface="Public Sans" pitchFamily="34" charset="-120"/>
              </a:rPr>
              <a:t> The dataset used in this project is synthetic and relatively small. Results may overfit the data. Future work should use larger, real-world datasets for validation.</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TotalTime>
  <Words>1586</Words>
  <Application>Microsoft Office PowerPoint</Application>
  <PresentationFormat>Custom</PresentationFormat>
  <Paragraphs>141</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Calibri</vt:lpstr>
      <vt:lpstr>Arial</vt:lpstr>
      <vt:lpstr>Playfair Display Semi Bold</vt:lpstr>
      <vt:lpstr>Playfair Display Light</vt:lpstr>
      <vt:lpstr>Public Sans</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Meftahul Mehraj</cp:lastModifiedBy>
  <cp:revision>2</cp:revision>
  <dcterms:created xsi:type="dcterms:W3CDTF">2026-04-10T09:31:54Z</dcterms:created>
  <dcterms:modified xsi:type="dcterms:W3CDTF">2026-04-10T09:34:20Z</dcterms:modified>
</cp:coreProperties>
</file>